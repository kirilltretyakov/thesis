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271" r:id="rId5"/>
    <p:sldId id="272" r:id="rId6"/>
    <p:sldId id="288" r:id="rId7"/>
    <p:sldId id="286" r:id="rId8"/>
    <p:sldId id="274" r:id="rId9"/>
    <p:sldId id="290" r:id="rId10"/>
    <p:sldId id="291" r:id="rId11"/>
    <p:sldId id="292" r:id="rId12"/>
    <p:sldId id="293" r:id="rId13"/>
    <p:sldId id="294" r:id="rId14"/>
    <p:sldId id="289" r:id="rId15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>
    <p:extLst>
      <p:ext uri="{19B8F6BF-5375-455C-9EA6-DF929625EA0E}">
        <p15:presenceInfo xmlns:p15="http://schemas.microsoft.com/office/powerpoint/2012/main" userId="S::ykutkov@hse.ru::45dbd1ed-eea1-4925-9fa4-5001421b49d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A9B"/>
    <a:srgbClr val="0E2D69"/>
    <a:srgbClr val="029C63"/>
    <a:srgbClr val="96628C"/>
    <a:srgbClr val="11A0D7"/>
    <a:srgbClr val="E61F3D"/>
    <a:srgbClr val="CD5A5A"/>
    <a:srgbClr val="FFD746"/>
    <a:srgbClr val="D9D9D9"/>
    <a:srgbClr val="EB68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67" autoAdjust="0"/>
    <p:restoredTop sz="94694"/>
  </p:normalViewPr>
  <p:slideViewPr>
    <p:cSldViewPr snapToGrid="0" snapToObjects="1">
      <p:cViewPr>
        <p:scale>
          <a:sx n="100" d="100"/>
          <a:sy n="100" d="100"/>
        </p:scale>
        <p:origin x="636" y="186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hyperlink" Target="https://hh.ru/" TargetMode="External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hyperlink" Target="https://hh.ru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B7C5A1-CEFA-422D-8145-01C1BBE517F4}" type="doc">
      <dgm:prSet loTypeId="urn:microsoft.com/office/officeart/2008/layout/VerticalCurvedList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46E4D3CE-9253-461B-81FA-4C4C23A77191}">
      <dgm:prSet phldrT="[Текст]"/>
      <dgm:spPr/>
      <dgm:t>
        <a:bodyPr/>
        <a:lstStyle/>
        <a:p>
          <a:pPr>
            <a:buNone/>
          </a:pPr>
          <a:r>
            <a:rPr lang="ru-RU" dirty="0">
              <a:latin typeface="Arial" panose="020B0604020202020204" pitchFamily="34" charset="0"/>
              <a:cs typeface="Arial" panose="020B0604020202020204" pitchFamily="34" charset="0"/>
            </a:rPr>
            <a:t>Изучить предметную область и существующие подходы к сопоставлению резюме и вакансий</a:t>
          </a:r>
        </a:p>
      </dgm:t>
    </dgm:pt>
    <dgm:pt modelId="{17930D4A-E1B3-49A0-A358-EB46863880DA}" type="parTrans" cxnId="{5687A83F-C412-4303-A44D-DF954EF19331}">
      <dgm:prSet/>
      <dgm:spPr/>
      <dgm:t>
        <a:bodyPr/>
        <a:lstStyle/>
        <a:p>
          <a:endParaRPr lang="ru-RU"/>
        </a:p>
      </dgm:t>
    </dgm:pt>
    <dgm:pt modelId="{FE8659D7-5834-4A40-89D9-48125CBFD968}" type="sibTrans" cxnId="{5687A83F-C412-4303-A44D-DF954EF19331}">
      <dgm:prSet/>
      <dgm:spPr/>
      <dgm:t>
        <a:bodyPr/>
        <a:lstStyle/>
        <a:p>
          <a:endParaRPr lang="ru-RU"/>
        </a:p>
      </dgm:t>
    </dgm:pt>
    <dgm:pt modelId="{571D5479-2E7C-4438-B2B9-D080B90426A7}">
      <dgm:prSet phldrT="[Текст]"/>
      <dgm:spPr/>
      <dgm:t>
        <a:bodyPr/>
        <a:lstStyle/>
        <a:p>
          <a:r>
            <a:rPr lang="ru-RU" dirty="0">
              <a:latin typeface="Arial" panose="020B0604020202020204" pitchFamily="34" charset="0"/>
              <a:cs typeface="Arial" panose="020B0604020202020204" pitchFamily="34" charset="0"/>
            </a:rPr>
            <a:t>Собрать</a:t>
          </a:r>
          <a:r>
            <a:rPr lang="ru-RU" dirty="0"/>
            <a:t> и подготовить данные о резюме и вакансиях</a:t>
          </a:r>
        </a:p>
      </dgm:t>
    </dgm:pt>
    <dgm:pt modelId="{87DA4BC2-573C-4278-9C34-BA5649F29087}" type="parTrans" cxnId="{D7790DC8-8D01-4B25-97FE-0BAFB206FD0B}">
      <dgm:prSet/>
      <dgm:spPr/>
      <dgm:t>
        <a:bodyPr/>
        <a:lstStyle/>
        <a:p>
          <a:endParaRPr lang="ru-RU"/>
        </a:p>
      </dgm:t>
    </dgm:pt>
    <dgm:pt modelId="{4C7E2D62-7D1E-4AD7-9F72-F0B87BCC1687}" type="sibTrans" cxnId="{D7790DC8-8D01-4B25-97FE-0BAFB206FD0B}">
      <dgm:prSet/>
      <dgm:spPr/>
      <dgm:t>
        <a:bodyPr/>
        <a:lstStyle/>
        <a:p>
          <a:endParaRPr lang="ru-RU"/>
        </a:p>
      </dgm:t>
    </dgm:pt>
    <dgm:pt modelId="{38C5FF81-A6EB-40A5-87E3-055448FC6A22}">
      <dgm:prSet phldrT="[Текст]"/>
      <dgm:spPr/>
      <dgm:t>
        <a:bodyPr/>
        <a:lstStyle/>
        <a:p>
          <a:pPr>
            <a:buNone/>
          </a:pPr>
          <a:r>
            <a:rPr lang="ru-RU" dirty="0">
              <a:latin typeface="Arial" panose="020B0604020202020204" pitchFamily="34" charset="0"/>
              <a:cs typeface="Arial" panose="020B0604020202020204" pitchFamily="34" charset="0"/>
            </a:rPr>
            <a:t>Выделить</a:t>
          </a:r>
          <a:r>
            <a:rPr lang="ru-RU" dirty="0"/>
            <a:t> ключевые признаки для сопоставления</a:t>
          </a:r>
        </a:p>
      </dgm:t>
    </dgm:pt>
    <dgm:pt modelId="{C72E8F22-0FA7-4A96-834D-ABA8C4951FEC}" type="parTrans" cxnId="{40706AE1-B0B7-4002-B6C3-338F92920885}">
      <dgm:prSet/>
      <dgm:spPr/>
      <dgm:t>
        <a:bodyPr/>
        <a:lstStyle/>
        <a:p>
          <a:endParaRPr lang="ru-RU"/>
        </a:p>
      </dgm:t>
    </dgm:pt>
    <dgm:pt modelId="{18C86941-FFCF-4C19-A35F-2B48E3DD1B5C}" type="sibTrans" cxnId="{40706AE1-B0B7-4002-B6C3-338F92920885}">
      <dgm:prSet/>
      <dgm:spPr/>
      <dgm:t>
        <a:bodyPr/>
        <a:lstStyle/>
        <a:p>
          <a:endParaRPr lang="ru-RU"/>
        </a:p>
      </dgm:t>
    </dgm:pt>
    <dgm:pt modelId="{E8ED8DD0-7B07-43D2-9D01-71B68FA4B951}">
      <dgm:prSet phldrT="[Текст]" phldr="0"/>
      <dgm:spPr/>
      <dgm:t>
        <a:bodyPr/>
        <a:lstStyle/>
        <a:p>
          <a:pPr>
            <a:buNone/>
          </a:pPr>
          <a:r>
            <a:rPr lang="ru-RU" dirty="0">
              <a:latin typeface="Arial" panose="020B0604020202020204" pitchFamily="34" charset="0"/>
              <a:cs typeface="Arial" panose="020B0604020202020204" pitchFamily="34" charset="0"/>
            </a:rPr>
            <a:t>Разработать</a:t>
          </a:r>
          <a:r>
            <a:rPr lang="ru-RU" dirty="0"/>
            <a:t> алгоритм ранжирования вакансий для выбранного резюме</a:t>
          </a:r>
        </a:p>
      </dgm:t>
    </dgm:pt>
    <dgm:pt modelId="{5871CA1E-7A39-4D4F-87BF-9AA14E48AACB}" type="parTrans" cxnId="{4CBEEEE0-C4B9-45EA-A433-A07A342DF1C4}">
      <dgm:prSet/>
      <dgm:spPr/>
      <dgm:t>
        <a:bodyPr/>
        <a:lstStyle/>
        <a:p>
          <a:endParaRPr lang="ru-RU"/>
        </a:p>
      </dgm:t>
    </dgm:pt>
    <dgm:pt modelId="{1D9397AD-6F15-461A-92DB-AF71F13FFA38}" type="sibTrans" cxnId="{4CBEEEE0-C4B9-45EA-A433-A07A342DF1C4}">
      <dgm:prSet/>
      <dgm:spPr/>
      <dgm:t>
        <a:bodyPr/>
        <a:lstStyle/>
        <a:p>
          <a:endParaRPr lang="ru-RU"/>
        </a:p>
      </dgm:t>
    </dgm:pt>
    <dgm:pt modelId="{9664A76D-6D75-4BE3-A511-48D9429C96BB}">
      <dgm:prSet phldrT="[Текст]" phldr="0"/>
      <dgm:spPr/>
      <dgm:t>
        <a:bodyPr/>
        <a:lstStyle/>
        <a:p>
          <a:pPr>
            <a:buNone/>
          </a:pPr>
          <a:r>
            <a:rPr lang="ru-RU" dirty="0">
              <a:latin typeface="Arial" panose="020B0604020202020204" pitchFamily="34" charset="0"/>
              <a:cs typeface="Arial" panose="020B0604020202020204" pitchFamily="34" charset="0"/>
            </a:rPr>
            <a:t>Разработать</a:t>
          </a:r>
          <a:r>
            <a:rPr lang="ru-RU" dirty="0"/>
            <a:t> демонстрационный интерфейс системы</a:t>
          </a:r>
        </a:p>
      </dgm:t>
    </dgm:pt>
    <dgm:pt modelId="{087A4006-CC32-421B-8786-16623C41F1FB}" type="parTrans" cxnId="{4ED409BB-32F0-4B06-9179-9094ECF1CA20}">
      <dgm:prSet/>
      <dgm:spPr/>
      <dgm:t>
        <a:bodyPr/>
        <a:lstStyle/>
        <a:p>
          <a:endParaRPr lang="ru-RU"/>
        </a:p>
      </dgm:t>
    </dgm:pt>
    <dgm:pt modelId="{A346438F-E9F5-4677-BB78-2F023E33E68E}" type="sibTrans" cxnId="{4ED409BB-32F0-4B06-9179-9094ECF1CA20}">
      <dgm:prSet/>
      <dgm:spPr/>
      <dgm:t>
        <a:bodyPr/>
        <a:lstStyle/>
        <a:p>
          <a:endParaRPr lang="ru-RU"/>
        </a:p>
      </dgm:t>
    </dgm:pt>
    <dgm:pt modelId="{23683C6E-6E15-456B-B972-7B2C253FE709}">
      <dgm:prSet phldrT="[Текст]" phldr="0"/>
      <dgm:spPr/>
      <dgm:t>
        <a:bodyPr/>
        <a:lstStyle/>
        <a:p>
          <a:pPr>
            <a:buNone/>
          </a:pPr>
          <a:r>
            <a:rPr lang="ru-RU" dirty="0">
              <a:latin typeface="Arial" panose="020B0604020202020204" pitchFamily="34" charset="0"/>
              <a:cs typeface="Arial" panose="020B0604020202020204" pitchFamily="34" charset="0"/>
            </a:rPr>
            <a:t>Провести</a:t>
          </a:r>
          <a:r>
            <a:rPr lang="ru-RU" dirty="0"/>
            <a:t> экспериментальную оценку качества результатов</a:t>
          </a:r>
        </a:p>
      </dgm:t>
    </dgm:pt>
    <dgm:pt modelId="{499F7101-E833-4EC8-841E-F1F615F667C7}" type="parTrans" cxnId="{42EFD876-4D9D-4963-8393-3CF109240D06}">
      <dgm:prSet/>
      <dgm:spPr/>
      <dgm:t>
        <a:bodyPr/>
        <a:lstStyle/>
        <a:p>
          <a:endParaRPr lang="ru-RU"/>
        </a:p>
      </dgm:t>
    </dgm:pt>
    <dgm:pt modelId="{7C3E5209-0218-47F0-8D5D-BD7CA291355D}" type="sibTrans" cxnId="{42EFD876-4D9D-4963-8393-3CF109240D06}">
      <dgm:prSet/>
      <dgm:spPr/>
      <dgm:t>
        <a:bodyPr/>
        <a:lstStyle/>
        <a:p>
          <a:endParaRPr lang="ru-RU"/>
        </a:p>
      </dgm:t>
    </dgm:pt>
    <dgm:pt modelId="{CA8DB953-563C-4E37-A57D-65602E52DB13}" type="pres">
      <dgm:prSet presAssocID="{AAB7C5A1-CEFA-422D-8145-01C1BBE517F4}" presName="Name0" presStyleCnt="0">
        <dgm:presLayoutVars>
          <dgm:chMax val="7"/>
          <dgm:chPref val="7"/>
          <dgm:dir/>
        </dgm:presLayoutVars>
      </dgm:prSet>
      <dgm:spPr/>
    </dgm:pt>
    <dgm:pt modelId="{4871F6FF-30EE-4B66-86F7-D6AE69E433B3}" type="pres">
      <dgm:prSet presAssocID="{AAB7C5A1-CEFA-422D-8145-01C1BBE517F4}" presName="Name1" presStyleCnt="0"/>
      <dgm:spPr/>
    </dgm:pt>
    <dgm:pt modelId="{8CFC3A5C-8556-4191-93BE-851C81802D4F}" type="pres">
      <dgm:prSet presAssocID="{AAB7C5A1-CEFA-422D-8145-01C1BBE517F4}" presName="cycle" presStyleCnt="0"/>
      <dgm:spPr/>
    </dgm:pt>
    <dgm:pt modelId="{7EBD217F-1744-47D7-B2CF-95D37F3511BC}" type="pres">
      <dgm:prSet presAssocID="{AAB7C5A1-CEFA-422D-8145-01C1BBE517F4}" presName="srcNode" presStyleLbl="node1" presStyleIdx="0" presStyleCnt="6"/>
      <dgm:spPr/>
    </dgm:pt>
    <dgm:pt modelId="{BC60B5D1-3611-4605-96B6-5281BD777448}" type="pres">
      <dgm:prSet presAssocID="{AAB7C5A1-CEFA-422D-8145-01C1BBE517F4}" presName="conn" presStyleLbl="parChTrans1D2" presStyleIdx="0" presStyleCnt="1"/>
      <dgm:spPr/>
    </dgm:pt>
    <dgm:pt modelId="{795B9DE1-2A3F-435D-8BFF-5B28FC6CEF22}" type="pres">
      <dgm:prSet presAssocID="{AAB7C5A1-CEFA-422D-8145-01C1BBE517F4}" presName="extraNode" presStyleLbl="node1" presStyleIdx="0" presStyleCnt="6"/>
      <dgm:spPr/>
    </dgm:pt>
    <dgm:pt modelId="{52B1F91A-DC5C-4A01-8C53-0C0971BAA8B7}" type="pres">
      <dgm:prSet presAssocID="{AAB7C5A1-CEFA-422D-8145-01C1BBE517F4}" presName="dstNode" presStyleLbl="node1" presStyleIdx="0" presStyleCnt="6"/>
      <dgm:spPr/>
    </dgm:pt>
    <dgm:pt modelId="{18B7B350-2C4C-47BF-BA3D-C52650C39F33}" type="pres">
      <dgm:prSet presAssocID="{46E4D3CE-9253-461B-81FA-4C4C23A77191}" presName="text_1" presStyleLbl="node1" presStyleIdx="0" presStyleCnt="6">
        <dgm:presLayoutVars>
          <dgm:bulletEnabled val="1"/>
        </dgm:presLayoutVars>
      </dgm:prSet>
      <dgm:spPr/>
    </dgm:pt>
    <dgm:pt modelId="{7564586D-23C0-43ED-8DBF-6C5541A39B0F}" type="pres">
      <dgm:prSet presAssocID="{46E4D3CE-9253-461B-81FA-4C4C23A77191}" presName="accent_1" presStyleCnt="0"/>
      <dgm:spPr/>
    </dgm:pt>
    <dgm:pt modelId="{1D274A8B-AA12-4DF2-9285-6BA1AA1FB5FA}" type="pres">
      <dgm:prSet presAssocID="{46E4D3CE-9253-461B-81FA-4C4C23A77191}" presName="accentRepeatNode" presStyleLbl="solidFgAcc1" presStyleIdx="0" presStyleCnt="6"/>
      <dgm:spPr/>
    </dgm:pt>
    <dgm:pt modelId="{80EFC663-5F46-458D-9EE1-3997C925C576}" type="pres">
      <dgm:prSet presAssocID="{571D5479-2E7C-4438-B2B9-D080B90426A7}" presName="text_2" presStyleLbl="node1" presStyleIdx="1" presStyleCnt="6">
        <dgm:presLayoutVars>
          <dgm:bulletEnabled val="1"/>
        </dgm:presLayoutVars>
      </dgm:prSet>
      <dgm:spPr/>
    </dgm:pt>
    <dgm:pt modelId="{CDD0EEB7-B477-4BBC-8456-54250784B45E}" type="pres">
      <dgm:prSet presAssocID="{571D5479-2E7C-4438-B2B9-D080B90426A7}" presName="accent_2" presStyleCnt="0"/>
      <dgm:spPr/>
    </dgm:pt>
    <dgm:pt modelId="{1FD9C764-D987-45D7-A920-F29662AC5596}" type="pres">
      <dgm:prSet presAssocID="{571D5479-2E7C-4438-B2B9-D080B90426A7}" presName="accentRepeatNode" presStyleLbl="solidFgAcc1" presStyleIdx="1" presStyleCnt="6"/>
      <dgm:spPr/>
    </dgm:pt>
    <dgm:pt modelId="{A5A7180C-8F7F-4175-9D8F-8DEDDAA25B4D}" type="pres">
      <dgm:prSet presAssocID="{38C5FF81-A6EB-40A5-87E3-055448FC6A22}" presName="text_3" presStyleLbl="node1" presStyleIdx="2" presStyleCnt="6">
        <dgm:presLayoutVars>
          <dgm:bulletEnabled val="1"/>
        </dgm:presLayoutVars>
      </dgm:prSet>
      <dgm:spPr/>
    </dgm:pt>
    <dgm:pt modelId="{067EA470-AF7F-4F34-81D9-98B9EE4F1E2E}" type="pres">
      <dgm:prSet presAssocID="{38C5FF81-A6EB-40A5-87E3-055448FC6A22}" presName="accent_3" presStyleCnt="0"/>
      <dgm:spPr/>
    </dgm:pt>
    <dgm:pt modelId="{631550E0-AC7A-45A3-AF86-9A64B695BE92}" type="pres">
      <dgm:prSet presAssocID="{38C5FF81-A6EB-40A5-87E3-055448FC6A22}" presName="accentRepeatNode" presStyleLbl="solidFgAcc1" presStyleIdx="2" presStyleCnt="6"/>
      <dgm:spPr/>
    </dgm:pt>
    <dgm:pt modelId="{3C3C8D87-6FE2-496A-95DD-698A00BD925A}" type="pres">
      <dgm:prSet presAssocID="{E8ED8DD0-7B07-43D2-9D01-71B68FA4B951}" presName="text_4" presStyleLbl="node1" presStyleIdx="3" presStyleCnt="6">
        <dgm:presLayoutVars>
          <dgm:bulletEnabled val="1"/>
        </dgm:presLayoutVars>
      </dgm:prSet>
      <dgm:spPr/>
    </dgm:pt>
    <dgm:pt modelId="{411DD3E4-E110-472C-8DBD-E22DE4BFF439}" type="pres">
      <dgm:prSet presAssocID="{E8ED8DD0-7B07-43D2-9D01-71B68FA4B951}" presName="accent_4" presStyleCnt="0"/>
      <dgm:spPr/>
    </dgm:pt>
    <dgm:pt modelId="{42737D49-28D3-4007-9CFF-77478DB42B7E}" type="pres">
      <dgm:prSet presAssocID="{E8ED8DD0-7B07-43D2-9D01-71B68FA4B951}" presName="accentRepeatNode" presStyleLbl="solidFgAcc1" presStyleIdx="3" presStyleCnt="6"/>
      <dgm:spPr/>
    </dgm:pt>
    <dgm:pt modelId="{2E92AE72-8510-423C-9643-9C40179E0FA9}" type="pres">
      <dgm:prSet presAssocID="{23683C6E-6E15-456B-B972-7B2C253FE709}" presName="text_5" presStyleLbl="node1" presStyleIdx="4" presStyleCnt="6">
        <dgm:presLayoutVars>
          <dgm:bulletEnabled val="1"/>
        </dgm:presLayoutVars>
      </dgm:prSet>
      <dgm:spPr/>
    </dgm:pt>
    <dgm:pt modelId="{8A973CF0-B217-4DFE-BD54-4C4975885E15}" type="pres">
      <dgm:prSet presAssocID="{23683C6E-6E15-456B-B972-7B2C253FE709}" presName="accent_5" presStyleCnt="0"/>
      <dgm:spPr/>
    </dgm:pt>
    <dgm:pt modelId="{41AA40AC-8467-4A54-81AA-8A0B57C8BA78}" type="pres">
      <dgm:prSet presAssocID="{23683C6E-6E15-456B-B972-7B2C253FE709}" presName="accentRepeatNode" presStyleLbl="solidFgAcc1" presStyleIdx="4" presStyleCnt="6"/>
      <dgm:spPr/>
    </dgm:pt>
    <dgm:pt modelId="{03E690D1-4A7D-4C3A-8287-3E791668CD7E}" type="pres">
      <dgm:prSet presAssocID="{9664A76D-6D75-4BE3-A511-48D9429C96BB}" presName="text_6" presStyleLbl="node1" presStyleIdx="5" presStyleCnt="6" custLinFactNeighborX="-454" custLinFactNeighborY="-1158">
        <dgm:presLayoutVars>
          <dgm:bulletEnabled val="1"/>
        </dgm:presLayoutVars>
      </dgm:prSet>
      <dgm:spPr/>
    </dgm:pt>
    <dgm:pt modelId="{A1BF1DF9-1435-4549-9907-247E32560990}" type="pres">
      <dgm:prSet presAssocID="{9664A76D-6D75-4BE3-A511-48D9429C96BB}" presName="accent_6" presStyleCnt="0"/>
      <dgm:spPr/>
    </dgm:pt>
    <dgm:pt modelId="{EF45F65B-2AAE-46D3-9000-420AC6B3B542}" type="pres">
      <dgm:prSet presAssocID="{9664A76D-6D75-4BE3-A511-48D9429C96BB}" presName="accentRepeatNode" presStyleLbl="solidFgAcc1" presStyleIdx="5" presStyleCnt="6"/>
      <dgm:spPr/>
    </dgm:pt>
  </dgm:ptLst>
  <dgm:cxnLst>
    <dgm:cxn modelId="{D22AAE00-D7BF-41F0-AE77-857DAF586A2D}" type="presOf" srcId="{AAB7C5A1-CEFA-422D-8145-01C1BBE517F4}" destId="{CA8DB953-563C-4E37-A57D-65602E52DB13}" srcOrd="0" destOrd="0" presId="urn:microsoft.com/office/officeart/2008/layout/VerticalCurvedList"/>
    <dgm:cxn modelId="{670A0A05-0C17-4A2B-9982-527F567A5BFB}" type="presOf" srcId="{FE8659D7-5834-4A40-89D9-48125CBFD968}" destId="{BC60B5D1-3611-4605-96B6-5281BD777448}" srcOrd="0" destOrd="0" presId="urn:microsoft.com/office/officeart/2008/layout/VerticalCurvedList"/>
    <dgm:cxn modelId="{7548231A-4CA9-48A5-9379-868FCE78D263}" type="presOf" srcId="{E8ED8DD0-7B07-43D2-9D01-71B68FA4B951}" destId="{3C3C8D87-6FE2-496A-95DD-698A00BD925A}" srcOrd="0" destOrd="0" presId="urn:microsoft.com/office/officeart/2008/layout/VerticalCurvedList"/>
    <dgm:cxn modelId="{2B46143F-7DD4-4F32-9E6F-028164A6A70A}" type="presOf" srcId="{9664A76D-6D75-4BE3-A511-48D9429C96BB}" destId="{03E690D1-4A7D-4C3A-8287-3E791668CD7E}" srcOrd="0" destOrd="0" presId="urn:microsoft.com/office/officeart/2008/layout/VerticalCurvedList"/>
    <dgm:cxn modelId="{5687A83F-C412-4303-A44D-DF954EF19331}" srcId="{AAB7C5A1-CEFA-422D-8145-01C1BBE517F4}" destId="{46E4D3CE-9253-461B-81FA-4C4C23A77191}" srcOrd="0" destOrd="0" parTransId="{17930D4A-E1B3-49A0-A358-EB46863880DA}" sibTransId="{FE8659D7-5834-4A40-89D9-48125CBFD968}"/>
    <dgm:cxn modelId="{A6A7D354-8858-4307-B7E0-F45DCA43DBA1}" type="presOf" srcId="{46E4D3CE-9253-461B-81FA-4C4C23A77191}" destId="{18B7B350-2C4C-47BF-BA3D-C52650C39F33}" srcOrd="0" destOrd="0" presId="urn:microsoft.com/office/officeart/2008/layout/VerticalCurvedList"/>
    <dgm:cxn modelId="{42EFD876-4D9D-4963-8393-3CF109240D06}" srcId="{AAB7C5A1-CEFA-422D-8145-01C1BBE517F4}" destId="{23683C6E-6E15-456B-B972-7B2C253FE709}" srcOrd="4" destOrd="0" parTransId="{499F7101-E833-4EC8-841E-F1F615F667C7}" sibTransId="{7C3E5209-0218-47F0-8D5D-BD7CA291355D}"/>
    <dgm:cxn modelId="{FE400C8B-7997-48EC-AB4B-96954DC48296}" type="presOf" srcId="{38C5FF81-A6EB-40A5-87E3-055448FC6A22}" destId="{A5A7180C-8F7F-4175-9D8F-8DEDDAA25B4D}" srcOrd="0" destOrd="0" presId="urn:microsoft.com/office/officeart/2008/layout/VerticalCurvedList"/>
    <dgm:cxn modelId="{9575458C-8B80-4CC4-B342-378DEF6E297F}" type="presOf" srcId="{571D5479-2E7C-4438-B2B9-D080B90426A7}" destId="{80EFC663-5F46-458D-9EE1-3997C925C576}" srcOrd="0" destOrd="0" presId="urn:microsoft.com/office/officeart/2008/layout/VerticalCurvedList"/>
    <dgm:cxn modelId="{AEA3E0AB-7876-46F1-8F91-B0014AB4924E}" type="presOf" srcId="{23683C6E-6E15-456B-B972-7B2C253FE709}" destId="{2E92AE72-8510-423C-9643-9C40179E0FA9}" srcOrd="0" destOrd="0" presId="urn:microsoft.com/office/officeart/2008/layout/VerticalCurvedList"/>
    <dgm:cxn modelId="{4ED409BB-32F0-4B06-9179-9094ECF1CA20}" srcId="{AAB7C5A1-CEFA-422D-8145-01C1BBE517F4}" destId="{9664A76D-6D75-4BE3-A511-48D9429C96BB}" srcOrd="5" destOrd="0" parTransId="{087A4006-CC32-421B-8786-16623C41F1FB}" sibTransId="{A346438F-E9F5-4677-BB78-2F023E33E68E}"/>
    <dgm:cxn modelId="{D7790DC8-8D01-4B25-97FE-0BAFB206FD0B}" srcId="{AAB7C5A1-CEFA-422D-8145-01C1BBE517F4}" destId="{571D5479-2E7C-4438-B2B9-D080B90426A7}" srcOrd="1" destOrd="0" parTransId="{87DA4BC2-573C-4278-9C34-BA5649F29087}" sibTransId="{4C7E2D62-7D1E-4AD7-9F72-F0B87BCC1687}"/>
    <dgm:cxn modelId="{4CBEEEE0-C4B9-45EA-A433-A07A342DF1C4}" srcId="{AAB7C5A1-CEFA-422D-8145-01C1BBE517F4}" destId="{E8ED8DD0-7B07-43D2-9D01-71B68FA4B951}" srcOrd="3" destOrd="0" parTransId="{5871CA1E-7A39-4D4F-87BF-9AA14E48AACB}" sibTransId="{1D9397AD-6F15-461A-92DB-AF71F13FFA38}"/>
    <dgm:cxn modelId="{40706AE1-B0B7-4002-B6C3-338F92920885}" srcId="{AAB7C5A1-CEFA-422D-8145-01C1BBE517F4}" destId="{38C5FF81-A6EB-40A5-87E3-055448FC6A22}" srcOrd="2" destOrd="0" parTransId="{C72E8F22-0FA7-4A96-834D-ABA8C4951FEC}" sibTransId="{18C86941-FFCF-4C19-A35F-2B48E3DD1B5C}"/>
    <dgm:cxn modelId="{B29CCD06-2B73-40BB-8E4E-0C3066A91179}" type="presParOf" srcId="{CA8DB953-563C-4E37-A57D-65602E52DB13}" destId="{4871F6FF-30EE-4B66-86F7-D6AE69E433B3}" srcOrd="0" destOrd="0" presId="urn:microsoft.com/office/officeart/2008/layout/VerticalCurvedList"/>
    <dgm:cxn modelId="{27D1CB1E-5837-49E3-9162-0D37CBF77502}" type="presParOf" srcId="{4871F6FF-30EE-4B66-86F7-D6AE69E433B3}" destId="{8CFC3A5C-8556-4191-93BE-851C81802D4F}" srcOrd="0" destOrd="0" presId="urn:microsoft.com/office/officeart/2008/layout/VerticalCurvedList"/>
    <dgm:cxn modelId="{3BDF1129-7E1D-49EA-BB58-33DC5A40843B}" type="presParOf" srcId="{8CFC3A5C-8556-4191-93BE-851C81802D4F}" destId="{7EBD217F-1744-47D7-B2CF-95D37F3511BC}" srcOrd="0" destOrd="0" presId="urn:microsoft.com/office/officeart/2008/layout/VerticalCurvedList"/>
    <dgm:cxn modelId="{D930BA41-EB07-4513-A502-3590F41C9211}" type="presParOf" srcId="{8CFC3A5C-8556-4191-93BE-851C81802D4F}" destId="{BC60B5D1-3611-4605-96B6-5281BD777448}" srcOrd="1" destOrd="0" presId="urn:microsoft.com/office/officeart/2008/layout/VerticalCurvedList"/>
    <dgm:cxn modelId="{3B38FF38-AE41-49C0-81A0-0ED5A38D93CF}" type="presParOf" srcId="{8CFC3A5C-8556-4191-93BE-851C81802D4F}" destId="{795B9DE1-2A3F-435D-8BFF-5B28FC6CEF22}" srcOrd="2" destOrd="0" presId="urn:microsoft.com/office/officeart/2008/layout/VerticalCurvedList"/>
    <dgm:cxn modelId="{53453067-F255-4274-B079-610A713D908D}" type="presParOf" srcId="{8CFC3A5C-8556-4191-93BE-851C81802D4F}" destId="{52B1F91A-DC5C-4A01-8C53-0C0971BAA8B7}" srcOrd="3" destOrd="0" presId="urn:microsoft.com/office/officeart/2008/layout/VerticalCurvedList"/>
    <dgm:cxn modelId="{AAC5EB61-07A7-4384-A2FC-DAA1F819BC7F}" type="presParOf" srcId="{4871F6FF-30EE-4B66-86F7-D6AE69E433B3}" destId="{18B7B350-2C4C-47BF-BA3D-C52650C39F33}" srcOrd="1" destOrd="0" presId="urn:microsoft.com/office/officeart/2008/layout/VerticalCurvedList"/>
    <dgm:cxn modelId="{37D1F7EE-AF37-465D-8755-2AA59F4B3FB8}" type="presParOf" srcId="{4871F6FF-30EE-4B66-86F7-D6AE69E433B3}" destId="{7564586D-23C0-43ED-8DBF-6C5541A39B0F}" srcOrd="2" destOrd="0" presId="urn:microsoft.com/office/officeart/2008/layout/VerticalCurvedList"/>
    <dgm:cxn modelId="{13F6D418-D1CE-4A74-9F99-03766D13D7A7}" type="presParOf" srcId="{7564586D-23C0-43ED-8DBF-6C5541A39B0F}" destId="{1D274A8B-AA12-4DF2-9285-6BA1AA1FB5FA}" srcOrd="0" destOrd="0" presId="urn:microsoft.com/office/officeart/2008/layout/VerticalCurvedList"/>
    <dgm:cxn modelId="{2594910F-11D4-47B2-A526-07DC908AB518}" type="presParOf" srcId="{4871F6FF-30EE-4B66-86F7-D6AE69E433B3}" destId="{80EFC663-5F46-458D-9EE1-3997C925C576}" srcOrd="3" destOrd="0" presId="urn:microsoft.com/office/officeart/2008/layout/VerticalCurvedList"/>
    <dgm:cxn modelId="{FBF4F6F6-7C48-4FB5-9C1B-AFAC8E83D003}" type="presParOf" srcId="{4871F6FF-30EE-4B66-86F7-D6AE69E433B3}" destId="{CDD0EEB7-B477-4BBC-8456-54250784B45E}" srcOrd="4" destOrd="0" presId="urn:microsoft.com/office/officeart/2008/layout/VerticalCurvedList"/>
    <dgm:cxn modelId="{59EEA787-1085-46E2-8282-A7B4B7252DFD}" type="presParOf" srcId="{CDD0EEB7-B477-4BBC-8456-54250784B45E}" destId="{1FD9C764-D987-45D7-A920-F29662AC5596}" srcOrd="0" destOrd="0" presId="urn:microsoft.com/office/officeart/2008/layout/VerticalCurvedList"/>
    <dgm:cxn modelId="{59091570-3A92-42AB-BD91-3A64DC2E6B58}" type="presParOf" srcId="{4871F6FF-30EE-4B66-86F7-D6AE69E433B3}" destId="{A5A7180C-8F7F-4175-9D8F-8DEDDAA25B4D}" srcOrd="5" destOrd="0" presId="urn:microsoft.com/office/officeart/2008/layout/VerticalCurvedList"/>
    <dgm:cxn modelId="{378EAF3E-234D-4ECA-8BF5-8015BD12C402}" type="presParOf" srcId="{4871F6FF-30EE-4B66-86F7-D6AE69E433B3}" destId="{067EA470-AF7F-4F34-81D9-98B9EE4F1E2E}" srcOrd="6" destOrd="0" presId="urn:microsoft.com/office/officeart/2008/layout/VerticalCurvedList"/>
    <dgm:cxn modelId="{2FF2455F-6B98-467F-8FE2-98C0D6AC9B8D}" type="presParOf" srcId="{067EA470-AF7F-4F34-81D9-98B9EE4F1E2E}" destId="{631550E0-AC7A-45A3-AF86-9A64B695BE92}" srcOrd="0" destOrd="0" presId="urn:microsoft.com/office/officeart/2008/layout/VerticalCurvedList"/>
    <dgm:cxn modelId="{206F014A-1A33-46C7-96C0-758C02981C7C}" type="presParOf" srcId="{4871F6FF-30EE-4B66-86F7-D6AE69E433B3}" destId="{3C3C8D87-6FE2-496A-95DD-698A00BD925A}" srcOrd="7" destOrd="0" presId="urn:microsoft.com/office/officeart/2008/layout/VerticalCurvedList"/>
    <dgm:cxn modelId="{655D97E0-7759-40B3-BC2E-73204410048B}" type="presParOf" srcId="{4871F6FF-30EE-4B66-86F7-D6AE69E433B3}" destId="{411DD3E4-E110-472C-8DBD-E22DE4BFF439}" srcOrd="8" destOrd="0" presId="urn:microsoft.com/office/officeart/2008/layout/VerticalCurvedList"/>
    <dgm:cxn modelId="{2FA735F0-47F0-4A78-B319-842CA2D3E8FB}" type="presParOf" srcId="{411DD3E4-E110-472C-8DBD-E22DE4BFF439}" destId="{42737D49-28D3-4007-9CFF-77478DB42B7E}" srcOrd="0" destOrd="0" presId="urn:microsoft.com/office/officeart/2008/layout/VerticalCurvedList"/>
    <dgm:cxn modelId="{46989F9E-289D-4692-9B14-3EC0FCF15173}" type="presParOf" srcId="{4871F6FF-30EE-4B66-86F7-D6AE69E433B3}" destId="{2E92AE72-8510-423C-9643-9C40179E0FA9}" srcOrd="9" destOrd="0" presId="urn:microsoft.com/office/officeart/2008/layout/VerticalCurvedList"/>
    <dgm:cxn modelId="{CB1A6D03-A250-474C-9DC8-12E11E9D2E04}" type="presParOf" srcId="{4871F6FF-30EE-4B66-86F7-D6AE69E433B3}" destId="{8A973CF0-B217-4DFE-BD54-4C4975885E15}" srcOrd="10" destOrd="0" presId="urn:microsoft.com/office/officeart/2008/layout/VerticalCurvedList"/>
    <dgm:cxn modelId="{12091555-55E8-4ECB-B4DC-FB82A93A340A}" type="presParOf" srcId="{8A973CF0-B217-4DFE-BD54-4C4975885E15}" destId="{41AA40AC-8467-4A54-81AA-8A0B57C8BA78}" srcOrd="0" destOrd="0" presId="urn:microsoft.com/office/officeart/2008/layout/VerticalCurvedList"/>
    <dgm:cxn modelId="{E3E5032E-E388-4C86-9FDC-70111FA9AF92}" type="presParOf" srcId="{4871F6FF-30EE-4B66-86F7-D6AE69E433B3}" destId="{03E690D1-4A7D-4C3A-8287-3E791668CD7E}" srcOrd="11" destOrd="0" presId="urn:microsoft.com/office/officeart/2008/layout/VerticalCurvedList"/>
    <dgm:cxn modelId="{3082B37D-972F-44ED-8677-C34EF4DF093B}" type="presParOf" srcId="{4871F6FF-30EE-4B66-86F7-D6AE69E433B3}" destId="{A1BF1DF9-1435-4549-9907-247E32560990}" srcOrd="12" destOrd="0" presId="urn:microsoft.com/office/officeart/2008/layout/VerticalCurvedList"/>
    <dgm:cxn modelId="{DD7F4944-5960-4165-8E67-B18F232F72B6}" type="presParOf" srcId="{A1BF1DF9-1435-4549-9907-247E32560990}" destId="{EF45F65B-2AAE-46D3-9000-420AC6B3B54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04B8394-2E1F-49F3-8BB8-3443A52C57E1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3898B82-9864-41CE-A7FD-84247224CD62}">
      <dgm:prSet phldrT="[Текст]" phldr="0" custT="1"/>
      <dgm:spPr>
        <a:solidFill>
          <a:srgbClr val="234A9B"/>
        </a:solidFill>
      </dgm:spPr>
      <dgm:t>
        <a:bodyPr/>
        <a:lstStyle/>
        <a:p>
          <a:r>
            <a:rPr lang="ru-RU" sz="1300" b="1" dirty="0">
              <a:latin typeface="Arial" panose="020B0604020202020204" pitchFamily="34" charset="0"/>
              <a:cs typeface="Arial" panose="020B0604020202020204" pitchFamily="34" charset="0"/>
            </a:rPr>
            <a:t>Парсинг </a:t>
          </a:r>
        </a:p>
        <a:p>
          <a:r>
            <a:rPr lang="ru-RU" sz="1300" b="1" dirty="0">
              <a:latin typeface="Arial" panose="020B0604020202020204" pitchFamily="34" charset="0"/>
              <a:cs typeface="Arial" panose="020B0604020202020204" pitchFamily="34" charset="0"/>
            </a:rPr>
            <a:t>ссылок</a:t>
          </a:r>
        </a:p>
      </dgm:t>
    </dgm:pt>
    <dgm:pt modelId="{EFA09E6C-2E9D-41FF-A5A3-60E68390343B}" type="parTrans" cxnId="{DC96333E-C556-4C8B-B175-BC9C35151209}">
      <dgm:prSet/>
      <dgm:spPr/>
      <dgm:t>
        <a:bodyPr/>
        <a:lstStyle/>
        <a:p>
          <a:endParaRPr lang="ru-RU" sz="1300"/>
        </a:p>
      </dgm:t>
    </dgm:pt>
    <dgm:pt modelId="{FF6F3DFD-7FDE-400E-A9BA-A39C89F38254}" type="sibTrans" cxnId="{DC96333E-C556-4C8B-B175-BC9C35151209}">
      <dgm:prSet/>
      <dgm:spPr/>
      <dgm:t>
        <a:bodyPr/>
        <a:lstStyle/>
        <a:p>
          <a:endParaRPr lang="ru-RU" sz="1300"/>
        </a:p>
      </dgm:t>
    </dgm:pt>
    <dgm:pt modelId="{6568910E-5537-4B67-B488-B25F3DF6A03F}">
      <dgm:prSet phldrT="[Текст]" phldr="0" custT="1"/>
      <dgm:spPr/>
      <dgm:t>
        <a:bodyPr/>
        <a:lstStyle/>
        <a:p>
          <a:r>
            <a:rPr lang="ru-RU" sz="1300" dirty="0">
              <a:latin typeface="Arial" panose="020B0604020202020204" pitchFamily="34" charset="0"/>
              <a:cs typeface="Arial" panose="020B0604020202020204" pitchFamily="34" charset="0"/>
            </a:rPr>
            <a:t> Производится парсинг ссылок вакансий и резюме с </a:t>
          </a:r>
          <a:r>
            <a:rPr lang="en-US" sz="1300" dirty="0" err="1">
              <a:latin typeface="Arial" panose="020B0604020202020204" pitchFamily="34" charset="0"/>
              <a:cs typeface="Arial" panose="020B0604020202020204" pitchFamily="34" charset="0"/>
            </a:rPr>
            <a:t>HeadHunter</a:t>
          </a:r>
          <a:r>
            <a:rPr lang="ru-RU" sz="1300" dirty="0">
              <a:latin typeface="Arial" panose="020B0604020202020204" pitchFamily="34" charset="0"/>
              <a:cs typeface="Arial" panose="020B0604020202020204" pitchFamily="34" charset="0"/>
            </a:rPr>
            <a:t> (</a:t>
          </a:r>
          <a:r>
            <a:rPr lang="en-US" sz="1300" dirty="0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1"/>
            </a:rPr>
            <a:t>https://hh.ru/</a:t>
          </a:r>
          <a:r>
            <a:rPr lang="ru-RU" sz="1300" dirty="0">
              <a:latin typeface="Arial" panose="020B0604020202020204" pitchFamily="34" charset="0"/>
              <a:cs typeface="Arial" panose="020B0604020202020204" pitchFamily="34" charset="0"/>
            </a:rPr>
            <a:t>)</a:t>
          </a:r>
          <a:r>
            <a:rPr lang="en-US" sz="1300" dirty="0"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ru-RU" sz="1300" dirty="0">
              <a:latin typeface="Arial" panose="020B0604020202020204" pitchFamily="34" charset="0"/>
              <a:cs typeface="Arial" panose="020B0604020202020204" pitchFamily="34" charset="0"/>
            </a:rPr>
            <a:t>парсинг производится по таблице-справочнику специальностей</a:t>
          </a:r>
        </a:p>
      </dgm:t>
    </dgm:pt>
    <dgm:pt modelId="{6F363D47-4CEC-4A93-BBC9-4A93A72FFC44}" type="parTrans" cxnId="{6B10D4AE-9DF7-4E12-A0F1-DDA5F8142C11}">
      <dgm:prSet/>
      <dgm:spPr/>
      <dgm:t>
        <a:bodyPr/>
        <a:lstStyle/>
        <a:p>
          <a:endParaRPr lang="ru-RU" sz="1300"/>
        </a:p>
      </dgm:t>
    </dgm:pt>
    <dgm:pt modelId="{996FC0D5-A13D-47A0-BA14-7E147CBE36B6}" type="sibTrans" cxnId="{6B10D4AE-9DF7-4E12-A0F1-DDA5F8142C11}">
      <dgm:prSet/>
      <dgm:spPr/>
      <dgm:t>
        <a:bodyPr/>
        <a:lstStyle/>
        <a:p>
          <a:endParaRPr lang="ru-RU" sz="1300"/>
        </a:p>
      </dgm:t>
    </dgm:pt>
    <dgm:pt modelId="{E8A1AF1B-C820-494B-B141-163BC716F6AD}">
      <dgm:prSet phldrT="[Текст]" phldr="0" custT="1"/>
      <dgm:spPr/>
      <dgm:t>
        <a:bodyPr/>
        <a:lstStyle/>
        <a:p>
          <a:r>
            <a:rPr lang="ru-RU" sz="1300" dirty="0">
              <a:latin typeface="Arial" panose="020B0604020202020204" pitchFamily="34" charset="0"/>
              <a:cs typeface="Arial" panose="020B0604020202020204" pitchFamily="34" charset="0"/>
            </a:rPr>
            <a:t>Сохранение полученных ссылок в БД </a:t>
          </a:r>
          <a:r>
            <a:rPr lang="en-US" sz="1300" dirty="0">
              <a:latin typeface="Arial" panose="020B0604020202020204" pitchFamily="34" charset="0"/>
              <a:cs typeface="Arial" panose="020B0604020202020204" pitchFamily="34" charset="0"/>
            </a:rPr>
            <a:t>PostgreSQL</a:t>
          </a:r>
          <a:endParaRPr lang="ru-RU" sz="13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6CBACAC-BAC6-4857-8C98-E87B6AD75D07}" type="parTrans" cxnId="{B7FAFFB7-A405-4A3B-9F73-BAF73A16886A}">
      <dgm:prSet/>
      <dgm:spPr/>
      <dgm:t>
        <a:bodyPr/>
        <a:lstStyle/>
        <a:p>
          <a:endParaRPr lang="ru-RU" sz="1300"/>
        </a:p>
      </dgm:t>
    </dgm:pt>
    <dgm:pt modelId="{4061EC55-CA90-4814-B97D-0F2CB986A048}" type="sibTrans" cxnId="{B7FAFFB7-A405-4A3B-9F73-BAF73A16886A}">
      <dgm:prSet/>
      <dgm:spPr/>
      <dgm:t>
        <a:bodyPr/>
        <a:lstStyle/>
        <a:p>
          <a:endParaRPr lang="ru-RU" sz="1300"/>
        </a:p>
      </dgm:t>
    </dgm:pt>
    <dgm:pt modelId="{CCC634E6-DBB9-40D0-80CD-58A80A2DEEB4}">
      <dgm:prSet phldrT="[Текст]" phldr="0" custT="1"/>
      <dgm:spPr>
        <a:solidFill>
          <a:srgbClr val="234A9B"/>
        </a:solidFill>
      </dgm:spPr>
      <dgm:t>
        <a:bodyPr/>
        <a:lstStyle/>
        <a:p>
          <a:r>
            <a:rPr lang="ru-RU" sz="1300" b="1" dirty="0">
              <a:latin typeface="Arial" panose="020B0604020202020204" pitchFamily="34" charset="0"/>
              <a:cs typeface="Arial" panose="020B0604020202020204" pitchFamily="34" charset="0"/>
            </a:rPr>
            <a:t>Парсинг</a:t>
          </a:r>
        </a:p>
        <a:p>
          <a:r>
            <a:rPr lang="ru-RU" sz="1300" b="1" dirty="0">
              <a:latin typeface="Arial" panose="020B0604020202020204" pitchFamily="34" charset="0"/>
              <a:cs typeface="Arial" panose="020B0604020202020204" pitchFamily="34" charset="0"/>
            </a:rPr>
            <a:t>текстов</a:t>
          </a:r>
        </a:p>
      </dgm:t>
    </dgm:pt>
    <dgm:pt modelId="{9F67CB2F-286D-4E0B-A9F2-D614957C3E71}" type="parTrans" cxnId="{841A4A0B-898C-4CE0-A4D7-CE27FDD7DF64}">
      <dgm:prSet/>
      <dgm:spPr/>
      <dgm:t>
        <a:bodyPr/>
        <a:lstStyle/>
        <a:p>
          <a:endParaRPr lang="ru-RU" sz="1300"/>
        </a:p>
      </dgm:t>
    </dgm:pt>
    <dgm:pt modelId="{83C44E72-4BC9-494B-8CB3-36361E6434D6}" type="sibTrans" cxnId="{841A4A0B-898C-4CE0-A4D7-CE27FDD7DF64}">
      <dgm:prSet/>
      <dgm:spPr/>
      <dgm:t>
        <a:bodyPr/>
        <a:lstStyle/>
        <a:p>
          <a:endParaRPr lang="ru-RU" sz="1300"/>
        </a:p>
      </dgm:t>
    </dgm:pt>
    <dgm:pt modelId="{D0479FD3-DEE2-488E-A6A7-B989AB3A5B40}">
      <dgm:prSet phldrT="[Текст]" phldr="0" custT="1"/>
      <dgm:spPr/>
      <dgm:t>
        <a:bodyPr/>
        <a:lstStyle/>
        <a:p>
          <a:r>
            <a:rPr lang="ru-RU" sz="1300" dirty="0">
              <a:latin typeface="Arial" panose="020B0604020202020204" pitchFamily="34" charset="0"/>
              <a:cs typeface="Arial" panose="020B0604020202020204" pitchFamily="34" charset="0"/>
            </a:rPr>
            <a:t>Производится автоматизированное открытие сохраненных ссылок, забирается текст</a:t>
          </a:r>
        </a:p>
      </dgm:t>
    </dgm:pt>
    <dgm:pt modelId="{2298E5B5-E20B-45CE-9752-E7F5149BB351}" type="parTrans" cxnId="{A3F15FE2-7EE1-4822-9D83-A6103203529D}">
      <dgm:prSet/>
      <dgm:spPr/>
      <dgm:t>
        <a:bodyPr/>
        <a:lstStyle/>
        <a:p>
          <a:endParaRPr lang="ru-RU" sz="1300"/>
        </a:p>
      </dgm:t>
    </dgm:pt>
    <dgm:pt modelId="{71EA4885-B582-40D7-A89E-E6B1FEB8F195}" type="sibTrans" cxnId="{A3F15FE2-7EE1-4822-9D83-A6103203529D}">
      <dgm:prSet/>
      <dgm:spPr/>
      <dgm:t>
        <a:bodyPr/>
        <a:lstStyle/>
        <a:p>
          <a:endParaRPr lang="ru-RU" sz="1300"/>
        </a:p>
      </dgm:t>
    </dgm:pt>
    <dgm:pt modelId="{42711285-B12B-4E0A-B1BD-C3C6BA2604C0}">
      <dgm:prSet phldrT="[Текст]" phldr="0" custT="1"/>
      <dgm:spPr/>
      <dgm:t>
        <a:bodyPr/>
        <a:lstStyle/>
        <a:p>
          <a:r>
            <a:rPr lang="ru-RU" sz="1300" dirty="0">
              <a:latin typeface="Arial" panose="020B0604020202020204" pitchFamily="34" charset="0"/>
              <a:cs typeface="Arial" panose="020B0604020202020204" pitchFamily="34" charset="0"/>
            </a:rPr>
            <a:t>Сохранение текстов в БД </a:t>
          </a:r>
          <a:r>
            <a:rPr lang="en-US" sz="1300" dirty="0">
              <a:latin typeface="Arial" panose="020B0604020202020204" pitchFamily="34" charset="0"/>
              <a:cs typeface="Arial" panose="020B0604020202020204" pitchFamily="34" charset="0"/>
            </a:rPr>
            <a:t>PostgreSQL</a:t>
          </a:r>
          <a:endParaRPr lang="ru-RU" sz="13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259A724-A79B-4BFB-9E8A-9C3321209F7D}" type="parTrans" cxnId="{65670F7A-5FA7-4CA2-B6F1-55E20E62540D}">
      <dgm:prSet/>
      <dgm:spPr/>
      <dgm:t>
        <a:bodyPr/>
        <a:lstStyle/>
        <a:p>
          <a:endParaRPr lang="ru-RU" sz="1300"/>
        </a:p>
      </dgm:t>
    </dgm:pt>
    <dgm:pt modelId="{40B562FB-FE65-46BB-85FE-A6B46685BF66}" type="sibTrans" cxnId="{65670F7A-5FA7-4CA2-B6F1-55E20E62540D}">
      <dgm:prSet/>
      <dgm:spPr/>
      <dgm:t>
        <a:bodyPr/>
        <a:lstStyle/>
        <a:p>
          <a:endParaRPr lang="ru-RU" sz="1300"/>
        </a:p>
      </dgm:t>
    </dgm:pt>
    <dgm:pt modelId="{F332834D-3723-4D95-AE4E-2113A81DCAB5}">
      <dgm:prSet phldrT="[Текст]" phldr="0" custT="1"/>
      <dgm:spPr>
        <a:solidFill>
          <a:srgbClr val="234A9B"/>
        </a:solidFill>
      </dgm:spPr>
      <dgm:t>
        <a:bodyPr/>
        <a:lstStyle/>
        <a:p>
          <a:r>
            <a:rPr lang="ru-RU" sz="1250" b="1" dirty="0">
              <a:latin typeface="Arial" panose="020B0604020202020204" pitchFamily="34" charset="0"/>
              <a:cs typeface="Arial" panose="020B0604020202020204" pitchFamily="34" charset="0"/>
            </a:rPr>
            <a:t>Автоматизация</a:t>
          </a:r>
        </a:p>
        <a:p>
          <a:r>
            <a:rPr lang="ru-RU" sz="1250" b="1" dirty="0">
              <a:latin typeface="Arial" panose="020B0604020202020204" pitchFamily="34" charset="0"/>
              <a:cs typeface="Arial" panose="020B0604020202020204" pitchFamily="34" charset="0"/>
            </a:rPr>
            <a:t>парсинга</a:t>
          </a:r>
        </a:p>
      </dgm:t>
    </dgm:pt>
    <dgm:pt modelId="{F89CE249-6A28-4579-BDDC-CB88CE3D2265}" type="parTrans" cxnId="{93BE6212-9AEB-4EC9-8EB3-F1B503C5D520}">
      <dgm:prSet/>
      <dgm:spPr/>
      <dgm:t>
        <a:bodyPr/>
        <a:lstStyle/>
        <a:p>
          <a:endParaRPr lang="ru-RU" sz="1300"/>
        </a:p>
      </dgm:t>
    </dgm:pt>
    <dgm:pt modelId="{C6B1419E-CFDC-4158-8090-EC24448B9200}" type="sibTrans" cxnId="{93BE6212-9AEB-4EC9-8EB3-F1B503C5D520}">
      <dgm:prSet/>
      <dgm:spPr/>
      <dgm:t>
        <a:bodyPr/>
        <a:lstStyle/>
        <a:p>
          <a:endParaRPr lang="ru-RU" sz="1300"/>
        </a:p>
      </dgm:t>
    </dgm:pt>
    <dgm:pt modelId="{DA6BB865-CC3C-4C8F-B7B3-3861533CF9E6}">
      <dgm:prSet phldrT="[Текст]" phldr="0" custT="1"/>
      <dgm:spPr/>
      <dgm:t>
        <a:bodyPr/>
        <a:lstStyle/>
        <a:p>
          <a:r>
            <a:rPr lang="ru-RU" sz="1300" dirty="0">
              <a:latin typeface="Arial" panose="020B0604020202020204" pitchFamily="34" charset="0"/>
              <a:cs typeface="Arial" panose="020B0604020202020204" pitchFamily="34" charset="0"/>
            </a:rPr>
            <a:t>С помощью</a:t>
          </a:r>
          <a:r>
            <a:rPr lang="en-US" sz="1300" dirty="0">
              <a:latin typeface="Arial" panose="020B0604020202020204" pitchFamily="34" charset="0"/>
              <a:cs typeface="Arial" panose="020B0604020202020204" pitchFamily="34" charset="0"/>
            </a:rPr>
            <a:t> Apache Airflow</a:t>
          </a:r>
          <a:r>
            <a:rPr lang="ru-RU" sz="1300" dirty="0">
              <a:latin typeface="Arial" panose="020B0604020202020204" pitchFamily="34" charset="0"/>
              <a:cs typeface="Arial" panose="020B0604020202020204" pitchFamily="34" charset="0"/>
            </a:rPr>
            <a:t> производится автоматический запуск парсинга ссылок и текстов для вакансий и резюме</a:t>
          </a:r>
          <a:r>
            <a:rPr lang="en-US" sz="13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ru-RU" sz="13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</dgm:t>
    </dgm:pt>
    <dgm:pt modelId="{6F2DE28E-BBB2-4B73-9BEA-24EFC12E1F18}" type="parTrans" cxnId="{52BEF835-6937-47B5-B048-54AB8428D4CC}">
      <dgm:prSet/>
      <dgm:spPr/>
      <dgm:t>
        <a:bodyPr/>
        <a:lstStyle/>
        <a:p>
          <a:endParaRPr lang="ru-RU" sz="1300"/>
        </a:p>
      </dgm:t>
    </dgm:pt>
    <dgm:pt modelId="{15247299-5F0B-4214-B6D1-36C77E80B3A6}" type="sibTrans" cxnId="{52BEF835-6937-47B5-B048-54AB8428D4CC}">
      <dgm:prSet/>
      <dgm:spPr/>
      <dgm:t>
        <a:bodyPr/>
        <a:lstStyle/>
        <a:p>
          <a:endParaRPr lang="ru-RU" sz="1300"/>
        </a:p>
      </dgm:t>
    </dgm:pt>
    <dgm:pt modelId="{5207983C-8102-4BB4-B738-69B42FF81A91}">
      <dgm:prSet phldrT="[Текст]" phldr="0" custT="1"/>
      <dgm:spPr/>
      <dgm:t>
        <a:bodyPr/>
        <a:lstStyle/>
        <a:p>
          <a:r>
            <a:rPr lang="en-US" sz="1300" dirty="0">
              <a:latin typeface="Arial" panose="020B0604020202020204" pitchFamily="34" charset="0"/>
              <a:cs typeface="Arial" panose="020B0604020202020204" pitchFamily="34" charset="0"/>
            </a:rPr>
            <a:t>DAG’</a:t>
          </a:r>
          <a:r>
            <a:rPr lang="ru-RU" sz="1300" dirty="0">
              <a:latin typeface="Arial" panose="020B0604020202020204" pitchFamily="34" charset="0"/>
              <a:cs typeface="Arial" panose="020B0604020202020204" pitchFamily="34" charset="0"/>
            </a:rPr>
            <a:t>и поставлены на расписание, продолжительность цикла – 2 часа</a:t>
          </a:r>
        </a:p>
      </dgm:t>
    </dgm:pt>
    <dgm:pt modelId="{F0C1B418-CDF5-476E-BF81-A2CC75E25799}" type="parTrans" cxnId="{B9BA1A29-90D2-4AD8-9029-3957AE33521A}">
      <dgm:prSet/>
      <dgm:spPr/>
      <dgm:t>
        <a:bodyPr/>
        <a:lstStyle/>
        <a:p>
          <a:endParaRPr lang="ru-RU" sz="1300"/>
        </a:p>
      </dgm:t>
    </dgm:pt>
    <dgm:pt modelId="{AE1F1FFA-12EB-4F16-9DB5-D1191307EEF1}" type="sibTrans" cxnId="{B9BA1A29-90D2-4AD8-9029-3957AE33521A}">
      <dgm:prSet/>
      <dgm:spPr/>
      <dgm:t>
        <a:bodyPr/>
        <a:lstStyle/>
        <a:p>
          <a:endParaRPr lang="ru-RU" sz="1300"/>
        </a:p>
      </dgm:t>
    </dgm:pt>
    <dgm:pt modelId="{1E8D2982-D017-4C65-BDD6-3747CADFC02A}" type="pres">
      <dgm:prSet presAssocID="{A04B8394-2E1F-49F3-8BB8-3443A52C57E1}" presName="linearFlow" presStyleCnt="0">
        <dgm:presLayoutVars>
          <dgm:dir/>
          <dgm:animLvl val="lvl"/>
          <dgm:resizeHandles val="exact"/>
        </dgm:presLayoutVars>
      </dgm:prSet>
      <dgm:spPr/>
    </dgm:pt>
    <dgm:pt modelId="{11853644-8FD0-496F-BA13-F19F901EA365}" type="pres">
      <dgm:prSet presAssocID="{D3898B82-9864-41CE-A7FD-84247224CD62}" presName="composite" presStyleCnt="0"/>
      <dgm:spPr/>
    </dgm:pt>
    <dgm:pt modelId="{FF302E80-85B7-4AA0-9F80-6FA46D7B8C5B}" type="pres">
      <dgm:prSet presAssocID="{D3898B82-9864-41CE-A7FD-84247224CD62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73DF31C2-92DC-45B0-BF45-557151AAF920}" type="pres">
      <dgm:prSet presAssocID="{D3898B82-9864-41CE-A7FD-84247224CD62}" presName="descendantText" presStyleLbl="alignAcc1" presStyleIdx="0" presStyleCnt="3">
        <dgm:presLayoutVars>
          <dgm:bulletEnabled val="1"/>
        </dgm:presLayoutVars>
      </dgm:prSet>
      <dgm:spPr/>
    </dgm:pt>
    <dgm:pt modelId="{4600A74E-C5BB-401E-8B99-364FAC54809B}" type="pres">
      <dgm:prSet presAssocID="{FF6F3DFD-7FDE-400E-A9BA-A39C89F38254}" presName="sp" presStyleCnt="0"/>
      <dgm:spPr/>
    </dgm:pt>
    <dgm:pt modelId="{787F086E-F3BD-45CB-ABF0-62871F852126}" type="pres">
      <dgm:prSet presAssocID="{CCC634E6-DBB9-40D0-80CD-58A80A2DEEB4}" presName="composite" presStyleCnt="0"/>
      <dgm:spPr/>
    </dgm:pt>
    <dgm:pt modelId="{32ED9340-2C84-4F7F-91AD-4AFF100D6259}" type="pres">
      <dgm:prSet presAssocID="{CCC634E6-DBB9-40D0-80CD-58A80A2DEEB4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81D3DB6F-AD77-47BF-9570-D1EDA4BEA835}" type="pres">
      <dgm:prSet presAssocID="{CCC634E6-DBB9-40D0-80CD-58A80A2DEEB4}" presName="descendantText" presStyleLbl="alignAcc1" presStyleIdx="1" presStyleCnt="3">
        <dgm:presLayoutVars>
          <dgm:bulletEnabled val="1"/>
        </dgm:presLayoutVars>
      </dgm:prSet>
      <dgm:spPr/>
    </dgm:pt>
    <dgm:pt modelId="{414E6C8C-CB9B-42E0-BE9D-821B73134776}" type="pres">
      <dgm:prSet presAssocID="{83C44E72-4BC9-494B-8CB3-36361E6434D6}" presName="sp" presStyleCnt="0"/>
      <dgm:spPr/>
    </dgm:pt>
    <dgm:pt modelId="{5ADF23E0-654D-4FF5-AED3-0686B4F21972}" type="pres">
      <dgm:prSet presAssocID="{F332834D-3723-4D95-AE4E-2113A81DCAB5}" presName="composite" presStyleCnt="0"/>
      <dgm:spPr/>
    </dgm:pt>
    <dgm:pt modelId="{DF41A69C-B578-4D21-96A8-635488F691B8}" type="pres">
      <dgm:prSet presAssocID="{F332834D-3723-4D95-AE4E-2113A81DCAB5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5752C7E0-28BF-489C-99A7-41109DB8CA7E}" type="pres">
      <dgm:prSet presAssocID="{F332834D-3723-4D95-AE4E-2113A81DCAB5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841A4A0B-898C-4CE0-A4D7-CE27FDD7DF64}" srcId="{A04B8394-2E1F-49F3-8BB8-3443A52C57E1}" destId="{CCC634E6-DBB9-40D0-80CD-58A80A2DEEB4}" srcOrd="1" destOrd="0" parTransId="{9F67CB2F-286D-4E0B-A9F2-D614957C3E71}" sibTransId="{83C44E72-4BC9-494B-8CB3-36361E6434D6}"/>
    <dgm:cxn modelId="{93BE6212-9AEB-4EC9-8EB3-F1B503C5D520}" srcId="{A04B8394-2E1F-49F3-8BB8-3443A52C57E1}" destId="{F332834D-3723-4D95-AE4E-2113A81DCAB5}" srcOrd="2" destOrd="0" parTransId="{F89CE249-6A28-4579-BDDC-CB88CE3D2265}" sibTransId="{C6B1419E-CFDC-4158-8090-EC24448B9200}"/>
    <dgm:cxn modelId="{EE94021E-54A9-4D00-8593-C9256F25EBA1}" type="presOf" srcId="{E8A1AF1B-C820-494B-B141-163BC716F6AD}" destId="{73DF31C2-92DC-45B0-BF45-557151AAF920}" srcOrd="0" destOrd="1" presId="urn:microsoft.com/office/officeart/2005/8/layout/chevron2"/>
    <dgm:cxn modelId="{D948AD1E-72DC-4330-9A1C-748C1FA2D432}" type="presOf" srcId="{DA6BB865-CC3C-4C8F-B7B3-3861533CF9E6}" destId="{5752C7E0-28BF-489C-99A7-41109DB8CA7E}" srcOrd="0" destOrd="0" presId="urn:microsoft.com/office/officeart/2005/8/layout/chevron2"/>
    <dgm:cxn modelId="{B9BA1A29-90D2-4AD8-9029-3957AE33521A}" srcId="{F332834D-3723-4D95-AE4E-2113A81DCAB5}" destId="{5207983C-8102-4BB4-B738-69B42FF81A91}" srcOrd="1" destOrd="0" parTransId="{F0C1B418-CDF5-476E-BF81-A2CC75E25799}" sibTransId="{AE1F1FFA-12EB-4F16-9DB5-D1191307EEF1}"/>
    <dgm:cxn modelId="{8FD0002E-9A11-4082-BB0E-55875E8EACD6}" type="presOf" srcId="{5207983C-8102-4BB4-B738-69B42FF81A91}" destId="{5752C7E0-28BF-489C-99A7-41109DB8CA7E}" srcOrd="0" destOrd="1" presId="urn:microsoft.com/office/officeart/2005/8/layout/chevron2"/>
    <dgm:cxn modelId="{52BEF835-6937-47B5-B048-54AB8428D4CC}" srcId="{F332834D-3723-4D95-AE4E-2113A81DCAB5}" destId="{DA6BB865-CC3C-4C8F-B7B3-3861533CF9E6}" srcOrd="0" destOrd="0" parTransId="{6F2DE28E-BBB2-4B73-9BEA-24EFC12E1F18}" sibTransId="{15247299-5F0B-4214-B6D1-36C77E80B3A6}"/>
    <dgm:cxn modelId="{7F8DBA37-3D01-4179-AAF3-17DACF086999}" type="presOf" srcId="{A04B8394-2E1F-49F3-8BB8-3443A52C57E1}" destId="{1E8D2982-D017-4C65-BDD6-3747CADFC02A}" srcOrd="0" destOrd="0" presId="urn:microsoft.com/office/officeart/2005/8/layout/chevron2"/>
    <dgm:cxn modelId="{40B16D39-5CAB-471D-B377-B48DE532F77B}" type="presOf" srcId="{CCC634E6-DBB9-40D0-80CD-58A80A2DEEB4}" destId="{32ED9340-2C84-4F7F-91AD-4AFF100D6259}" srcOrd="0" destOrd="0" presId="urn:microsoft.com/office/officeart/2005/8/layout/chevron2"/>
    <dgm:cxn modelId="{DC96333E-C556-4C8B-B175-BC9C35151209}" srcId="{A04B8394-2E1F-49F3-8BB8-3443A52C57E1}" destId="{D3898B82-9864-41CE-A7FD-84247224CD62}" srcOrd="0" destOrd="0" parTransId="{EFA09E6C-2E9D-41FF-A5A3-60E68390343B}" sibTransId="{FF6F3DFD-7FDE-400E-A9BA-A39C89F38254}"/>
    <dgm:cxn modelId="{A7783B6C-FA41-4EF5-BBA2-D5C796B81DC3}" type="presOf" srcId="{42711285-B12B-4E0A-B1BD-C3C6BA2604C0}" destId="{81D3DB6F-AD77-47BF-9570-D1EDA4BEA835}" srcOrd="0" destOrd="1" presId="urn:microsoft.com/office/officeart/2005/8/layout/chevron2"/>
    <dgm:cxn modelId="{65670F7A-5FA7-4CA2-B6F1-55E20E62540D}" srcId="{CCC634E6-DBB9-40D0-80CD-58A80A2DEEB4}" destId="{42711285-B12B-4E0A-B1BD-C3C6BA2604C0}" srcOrd="1" destOrd="0" parTransId="{5259A724-A79B-4BFB-9E8A-9C3321209F7D}" sibTransId="{40B562FB-FE65-46BB-85FE-A6B46685BF66}"/>
    <dgm:cxn modelId="{53F0C97F-4EB8-499C-ABB1-A7FC857828B6}" type="presOf" srcId="{D3898B82-9864-41CE-A7FD-84247224CD62}" destId="{FF302E80-85B7-4AA0-9F80-6FA46D7B8C5B}" srcOrd="0" destOrd="0" presId="urn:microsoft.com/office/officeart/2005/8/layout/chevron2"/>
    <dgm:cxn modelId="{1E61C784-8192-473D-A965-B62C3FA62C9A}" type="presOf" srcId="{D0479FD3-DEE2-488E-A6A7-B989AB3A5B40}" destId="{81D3DB6F-AD77-47BF-9570-D1EDA4BEA835}" srcOrd="0" destOrd="0" presId="urn:microsoft.com/office/officeart/2005/8/layout/chevron2"/>
    <dgm:cxn modelId="{6B10D4AE-9DF7-4E12-A0F1-DDA5F8142C11}" srcId="{D3898B82-9864-41CE-A7FD-84247224CD62}" destId="{6568910E-5537-4B67-B488-B25F3DF6A03F}" srcOrd="0" destOrd="0" parTransId="{6F363D47-4CEC-4A93-BBC9-4A93A72FFC44}" sibTransId="{996FC0D5-A13D-47A0-BA14-7E147CBE36B6}"/>
    <dgm:cxn modelId="{B7FAFFB7-A405-4A3B-9F73-BAF73A16886A}" srcId="{D3898B82-9864-41CE-A7FD-84247224CD62}" destId="{E8A1AF1B-C820-494B-B141-163BC716F6AD}" srcOrd="1" destOrd="0" parTransId="{46CBACAC-BAC6-4857-8C98-E87B6AD75D07}" sibTransId="{4061EC55-CA90-4814-B97D-0F2CB986A048}"/>
    <dgm:cxn modelId="{98B8A5DC-F30A-447C-85D6-196592C6A56A}" type="presOf" srcId="{6568910E-5537-4B67-B488-B25F3DF6A03F}" destId="{73DF31C2-92DC-45B0-BF45-557151AAF920}" srcOrd="0" destOrd="0" presId="urn:microsoft.com/office/officeart/2005/8/layout/chevron2"/>
    <dgm:cxn modelId="{A3F15FE2-7EE1-4822-9D83-A6103203529D}" srcId="{CCC634E6-DBB9-40D0-80CD-58A80A2DEEB4}" destId="{D0479FD3-DEE2-488E-A6A7-B989AB3A5B40}" srcOrd="0" destOrd="0" parTransId="{2298E5B5-E20B-45CE-9752-E7F5149BB351}" sibTransId="{71EA4885-B582-40D7-A89E-E6B1FEB8F195}"/>
    <dgm:cxn modelId="{CE8A8FFF-58EA-473E-8819-8AEA1454D839}" type="presOf" srcId="{F332834D-3723-4D95-AE4E-2113A81DCAB5}" destId="{DF41A69C-B578-4D21-96A8-635488F691B8}" srcOrd="0" destOrd="0" presId="urn:microsoft.com/office/officeart/2005/8/layout/chevron2"/>
    <dgm:cxn modelId="{86BDE2B3-FBDE-4F57-B46E-ED05E5543A20}" type="presParOf" srcId="{1E8D2982-D017-4C65-BDD6-3747CADFC02A}" destId="{11853644-8FD0-496F-BA13-F19F901EA365}" srcOrd="0" destOrd="0" presId="urn:microsoft.com/office/officeart/2005/8/layout/chevron2"/>
    <dgm:cxn modelId="{DF2A032A-EC93-4EF2-BCAE-0D165AEE49EA}" type="presParOf" srcId="{11853644-8FD0-496F-BA13-F19F901EA365}" destId="{FF302E80-85B7-4AA0-9F80-6FA46D7B8C5B}" srcOrd="0" destOrd="0" presId="urn:microsoft.com/office/officeart/2005/8/layout/chevron2"/>
    <dgm:cxn modelId="{FAA04B33-EBC2-4658-B257-3C79EBD4DA69}" type="presParOf" srcId="{11853644-8FD0-496F-BA13-F19F901EA365}" destId="{73DF31C2-92DC-45B0-BF45-557151AAF920}" srcOrd="1" destOrd="0" presId="urn:microsoft.com/office/officeart/2005/8/layout/chevron2"/>
    <dgm:cxn modelId="{AC2C1CFA-6D0A-4338-9F32-37EAD1A132A7}" type="presParOf" srcId="{1E8D2982-D017-4C65-BDD6-3747CADFC02A}" destId="{4600A74E-C5BB-401E-8B99-364FAC54809B}" srcOrd="1" destOrd="0" presId="urn:microsoft.com/office/officeart/2005/8/layout/chevron2"/>
    <dgm:cxn modelId="{925DA115-92B0-4282-9B16-6641460FC0DB}" type="presParOf" srcId="{1E8D2982-D017-4C65-BDD6-3747CADFC02A}" destId="{787F086E-F3BD-45CB-ABF0-62871F852126}" srcOrd="2" destOrd="0" presId="urn:microsoft.com/office/officeart/2005/8/layout/chevron2"/>
    <dgm:cxn modelId="{15160359-B3B4-48D9-AF8F-B445D9131722}" type="presParOf" srcId="{787F086E-F3BD-45CB-ABF0-62871F852126}" destId="{32ED9340-2C84-4F7F-91AD-4AFF100D6259}" srcOrd="0" destOrd="0" presId="urn:microsoft.com/office/officeart/2005/8/layout/chevron2"/>
    <dgm:cxn modelId="{07BE4106-041C-4189-BEDA-0DAAACFD653A}" type="presParOf" srcId="{787F086E-F3BD-45CB-ABF0-62871F852126}" destId="{81D3DB6F-AD77-47BF-9570-D1EDA4BEA835}" srcOrd="1" destOrd="0" presId="urn:microsoft.com/office/officeart/2005/8/layout/chevron2"/>
    <dgm:cxn modelId="{DD6F4E2B-E405-49DB-963C-644535953229}" type="presParOf" srcId="{1E8D2982-D017-4C65-BDD6-3747CADFC02A}" destId="{414E6C8C-CB9B-42E0-BE9D-821B73134776}" srcOrd="3" destOrd="0" presId="urn:microsoft.com/office/officeart/2005/8/layout/chevron2"/>
    <dgm:cxn modelId="{FB77A1A4-2B49-427F-9A59-BDB69A9B7115}" type="presParOf" srcId="{1E8D2982-D017-4C65-BDD6-3747CADFC02A}" destId="{5ADF23E0-654D-4FF5-AED3-0686B4F21972}" srcOrd="4" destOrd="0" presId="urn:microsoft.com/office/officeart/2005/8/layout/chevron2"/>
    <dgm:cxn modelId="{6B2B3BC1-A24E-4CF5-95E0-76AAEEB42121}" type="presParOf" srcId="{5ADF23E0-654D-4FF5-AED3-0686B4F21972}" destId="{DF41A69C-B578-4D21-96A8-635488F691B8}" srcOrd="0" destOrd="0" presId="urn:microsoft.com/office/officeart/2005/8/layout/chevron2"/>
    <dgm:cxn modelId="{315B34A9-8601-4940-A201-BE6D93A831C3}" type="presParOf" srcId="{5ADF23E0-654D-4FF5-AED3-0686B4F21972}" destId="{5752C7E0-28BF-489C-99A7-41109DB8CA7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5A825CE-57DF-4800-B39E-4057CD98DA68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90DCADCC-FCBC-45AC-9FF5-7D5343692887}">
      <dgm:prSet phldrT="[Текст]" phldr="0"/>
      <dgm:spPr>
        <a:solidFill>
          <a:srgbClr val="234A9B"/>
        </a:solidFill>
      </dgm:spPr>
      <dgm:t>
        <a:bodyPr/>
        <a:lstStyle/>
        <a:p>
          <a:r>
            <a:rPr lang="en-US" dirty="0"/>
            <a:t>1</a:t>
          </a:r>
          <a:r>
            <a:rPr lang="ru-RU" dirty="0"/>
            <a:t>. Получение сырых данных </a:t>
          </a:r>
          <a:r>
            <a:rPr lang="ru-RU" dirty="0">
              <a:latin typeface="Arial" panose="020B0604020202020204" pitchFamily="34" charset="0"/>
              <a:cs typeface="Arial" panose="020B0604020202020204" pitchFamily="34" charset="0"/>
            </a:rPr>
            <a:t>из</a:t>
          </a:r>
          <a:r>
            <a:rPr lang="ru-RU" dirty="0"/>
            <a:t> БД</a:t>
          </a:r>
        </a:p>
      </dgm:t>
    </dgm:pt>
    <dgm:pt modelId="{5DB80B9A-9CC0-477E-B896-D2F552F97ACF}" type="parTrans" cxnId="{741ED8ED-05AA-462C-B340-EA3906F63A4D}">
      <dgm:prSet/>
      <dgm:spPr/>
      <dgm:t>
        <a:bodyPr/>
        <a:lstStyle/>
        <a:p>
          <a:endParaRPr lang="ru-RU"/>
        </a:p>
      </dgm:t>
    </dgm:pt>
    <dgm:pt modelId="{9702CBCD-00C7-4A6D-8A3A-7AD57B5A65EA}" type="sibTrans" cxnId="{741ED8ED-05AA-462C-B340-EA3906F63A4D}">
      <dgm:prSet/>
      <dgm:spPr/>
      <dgm:t>
        <a:bodyPr/>
        <a:lstStyle/>
        <a:p>
          <a:endParaRPr lang="ru-RU"/>
        </a:p>
      </dgm:t>
    </dgm:pt>
    <dgm:pt modelId="{373E5955-4F2B-4A07-BC96-69F59CB19C02}">
      <dgm:prSet phldrT="[Текст]" phldr="0" custT="1"/>
      <dgm:spPr/>
      <dgm:t>
        <a:bodyPr/>
        <a:lstStyle/>
        <a:p>
          <a:r>
            <a:rPr lang="ru-RU" sz="1300" dirty="0"/>
            <a:t>Тексты резюме и вакансий из </a:t>
          </a:r>
          <a:r>
            <a:rPr lang="en-US" sz="1300" dirty="0"/>
            <a:t>HH.ru</a:t>
          </a:r>
          <a:r>
            <a:rPr lang="ru-RU" sz="1300" dirty="0"/>
            <a:t>: шапки и тела </a:t>
          </a:r>
          <a:r>
            <a:rPr lang="ru-RU" sz="1300" dirty="0">
              <a:latin typeface="Arial" panose="020B0604020202020204" pitchFamily="34" charset="0"/>
              <a:cs typeface="Arial" panose="020B0604020202020204" pitchFamily="34" charset="0"/>
            </a:rPr>
            <a:t>резюме</a:t>
          </a:r>
          <a:r>
            <a:rPr lang="ru-RU" sz="1300" dirty="0"/>
            <a:t> и вакансии</a:t>
          </a:r>
        </a:p>
      </dgm:t>
    </dgm:pt>
    <dgm:pt modelId="{C0096618-6551-4651-8C4B-F77914B0E440}" type="parTrans" cxnId="{70BBB5A4-64AA-4363-A4B1-818D0185DE1A}">
      <dgm:prSet/>
      <dgm:spPr/>
      <dgm:t>
        <a:bodyPr/>
        <a:lstStyle/>
        <a:p>
          <a:endParaRPr lang="ru-RU"/>
        </a:p>
      </dgm:t>
    </dgm:pt>
    <dgm:pt modelId="{6C087341-7FEC-49C2-9F52-0324FF371697}" type="sibTrans" cxnId="{70BBB5A4-64AA-4363-A4B1-818D0185DE1A}">
      <dgm:prSet/>
      <dgm:spPr/>
      <dgm:t>
        <a:bodyPr/>
        <a:lstStyle/>
        <a:p>
          <a:endParaRPr lang="ru-RU"/>
        </a:p>
      </dgm:t>
    </dgm:pt>
    <dgm:pt modelId="{7E8A56A0-8B56-4EC0-A5A1-3AABAA352CB6}">
      <dgm:prSet phldrT="[Текст]" phldr="0"/>
      <dgm:spPr>
        <a:solidFill>
          <a:srgbClr val="234A9B"/>
        </a:solidFill>
      </dgm:spPr>
      <dgm:t>
        <a:bodyPr/>
        <a:lstStyle/>
        <a:p>
          <a:r>
            <a:rPr lang="ru-RU" dirty="0">
              <a:latin typeface="Arial" panose="020B0604020202020204" pitchFamily="34" charset="0"/>
              <a:cs typeface="Arial" panose="020B0604020202020204" pitchFamily="34" charset="0"/>
            </a:rPr>
            <a:t>2. Извлечение атрибутов</a:t>
          </a:r>
        </a:p>
      </dgm:t>
    </dgm:pt>
    <dgm:pt modelId="{F77BFA89-790C-46A8-80A5-8C4FB4C4E935}" type="parTrans" cxnId="{A83D3D47-DFFB-4BE8-89FE-21B650911BEA}">
      <dgm:prSet/>
      <dgm:spPr/>
      <dgm:t>
        <a:bodyPr/>
        <a:lstStyle/>
        <a:p>
          <a:endParaRPr lang="ru-RU"/>
        </a:p>
      </dgm:t>
    </dgm:pt>
    <dgm:pt modelId="{C75A9D76-CC27-4987-A806-4364C4DB6A51}" type="sibTrans" cxnId="{A83D3D47-DFFB-4BE8-89FE-21B650911BEA}">
      <dgm:prSet/>
      <dgm:spPr/>
      <dgm:t>
        <a:bodyPr/>
        <a:lstStyle/>
        <a:p>
          <a:endParaRPr lang="ru-RU"/>
        </a:p>
      </dgm:t>
    </dgm:pt>
    <dgm:pt modelId="{1E936130-2C3C-43AF-B965-9A756B3DAEAE}">
      <dgm:prSet phldrT="[Текст]" phldr="0" custT="1"/>
      <dgm:spPr/>
      <dgm:t>
        <a:bodyPr/>
        <a:lstStyle/>
        <a:p>
          <a:r>
            <a:rPr lang="ru-RU" sz="1300" dirty="0">
              <a:latin typeface="Arial" panose="020B0604020202020204" pitchFamily="34" charset="0"/>
              <a:cs typeface="Arial" panose="020B0604020202020204" pitchFamily="34" charset="0"/>
            </a:rPr>
            <a:t>Название позиции, опыт, зарплата, формат работы</a:t>
          </a:r>
          <a:r>
            <a:rPr lang="en-US" sz="1300" dirty="0">
              <a:latin typeface="Arial" panose="020B0604020202020204" pitchFamily="34" charset="0"/>
              <a:cs typeface="Arial" panose="020B0604020202020204" pitchFamily="34" charset="0"/>
            </a:rPr>
            <a:t>,</a:t>
          </a:r>
          <a:r>
            <a:rPr lang="ru-RU" sz="1300" dirty="0">
              <a:latin typeface="Arial" panose="020B0604020202020204" pitchFamily="34" charset="0"/>
              <a:cs typeface="Arial" panose="020B0604020202020204" pitchFamily="34" charset="0"/>
            </a:rPr>
            <a:t> специализация</a:t>
          </a:r>
        </a:p>
      </dgm:t>
    </dgm:pt>
    <dgm:pt modelId="{27DE28F0-CB51-48BA-A5E6-98C968BB3462}" type="parTrans" cxnId="{CEBBEF39-9D72-4541-9EB9-B29358F2D8EC}">
      <dgm:prSet/>
      <dgm:spPr/>
      <dgm:t>
        <a:bodyPr/>
        <a:lstStyle/>
        <a:p>
          <a:endParaRPr lang="ru-RU"/>
        </a:p>
      </dgm:t>
    </dgm:pt>
    <dgm:pt modelId="{63E482F3-4B85-4561-9A96-DAC9DF96CAAB}" type="sibTrans" cxnId="{CEBBEF39-9D72-4541-9EB9-B29358F2D8EC}">
      <dgm:prSet/>
      <dgm:spPr/>
      <dgm:t>
        <a:bodyPr/>
        <a:lstStyle/>
        <a:p>
          <a:endParaRPr lang="ru-RU"/>
        </a:p>
      </dgm:t>
    </dgm:pt>
    <dgm:pt modelId="{9FF4A5F6-0061-4DBB-BD58-38E1C6439DCB}">
      <dgm:prSet phldrT="[Текст]" phldr="0"/>
      <dgm:spPr>
        <a:solidFill>
          <a:srgbClr val="234A9B"/>
        </a:solidFill>
      </dgm:spPr>
      <dgm:t>
        <a:bodyPr/>
        <a:lstStyle/>
        <a:p>
          <a:r>
            <a:rPr lang="ru-RU" dirty="0">
              <a:latin typeface="Arial" panose="020B0604020202020204" pitchFamily="34" charset="0"/>
              <a:cs typeface="Arial" panose="020B0604020202020204" pitchFamily="34" charset="0"/>
            </a:rPr>
            <a:t>3. Очистка и нормализация текста</a:t>
          </a:r>
        </a:p>
      </dgm:t>
    </dgm:pt>
    <dgm:pt modelId="{14B2C3D2-D43E-4B47-8CD3-BE3144A6A17A}" type="parTrans" cxnId="{B5BB77F6-6720-422A-A299-A0C32372B3AE}">
      <dgm:prSet/>
      <dgm:spPr/>
      <dgm:t>
        <a:bodyPr/>
        <a:lstStyle/>
        <a:p>
          <a:endParaRPr lang="ru-RU"/>
        </a:p>
      </dgm:t>
    </dgm:pt>
    <dgm:pt modelId="{3D089FDE-983C-4D7D-A125-AD4F033E7014}" type="sibTrans" cxnId="{B5BB77F6-6720-422A-A299-A0C32372B3AE}">
      <dgm:prSet/>
      <dgm:spPr/>
      <dgm:t>
        <a:bodyPr/>
        <a:lstStyle/>
        <a:p>
          <a:endParaRPr lang="ru-RU"/>
        </a:p>
      </dgm:t>
    </dgm:pt>
    <dgm:pt modelId="{B850FAD9-3942-4E04-B5EE-8A2F4AB9B5CD}">
      <dgm:prSet phldrT="[Текст]" phldr="0" custT="1"/>
      <dgm:spPr/>
      <dgm:t>
        <a:bodyPr/>
        <a:lstStyle/>
        <a:p>
          <a:r>
            <a:rPr lang="ru-RU" sz="1300" dirty="0">
              <a:latin typeface="Arial" panose="020B0604020202020204" pitchFamily="34" charset="0"/>
              <a:cs typeface="Arial" panose="020B0604020202020204" pitchFamily="34" charset="0"/>
            </a:rPr>
            <a:t>Удаление шума и мусора (служебных блоков</a:t>
          </a:r>
          <a:r>
            <a:rPr lang="en-US" sz="1300" dirty="0">
              <a:latin typeface="Arial" panose="020B0604020202020204" pitchFamily="34" charset="0"/>
              <a:cs typeface="Arial" panose="020B0604020202020204" pitchFamily="34" charset="0"/>
            </a:rPr>
            <a:t> HH</a:t>
          </a:r>
          <a:r>
            <a:rPr lang="ru-RU" sz="1300" dirty="0">
              <a:latin typeface="Arial" panose="020B0604020202020204" pitchFamily="34" charset="0"/>
              <a:cs typeface="Arial" panose="020B0604020202020204" pitchFamily="34" charset="0"/>
            </a:rPr>
            <a:t>)</a:t>
          </a:r>
          <a:r>
            <a:rPr lang="en-US" sz="1300" dirty="0">
              <a:latin typeface="Arial" panose="020B0604020202020204" pitchFamily="34" charset="0"/>
              <a:cs typeface="Arial" panose="020B0604020202020204" pitchFamily="34" charset="0"/>
            </a:rPr>
            <a:t>,  </a:t>
          </a:r>
          <a:r>
            <a:rPr lang="ru-RU" sz="1300" dirty="0">
              <a:latin typeface="Arial" panose="020B0604020202020204" pitchFamily="34" charset="0"/>
              <a:cs typeface="Arial" panose="020B0604020202020204" pitchFamily="34" charset="0"/>
            </a:rPr>
            <a:t>нормализация текста</a:t>
          </a:r>
        </a:p>
      </dgm:t>
    </dgm:pt>
    <dgm:pt modelId="{103ADF5F-0C06-4D6F-8F16-778ABEA1C1CA}" type="parTrans" cxnId="{FBCF5CCE-0F18-4F29-BA2F-1EE2D818B6BD}">
      <dgm:prSet/>
      <dgm:spPr/>
      <dgm:t>
        <a:bodyPr/>
        <a:lstStyle/>
        <a:p>
          <a:endParaRPr lang="ru-RU"/>
        </a:p>
      </dgm:t>
    </dgm:pt>
    <dgm:pt modelId="{11FC476B-D548-497A-AE3B-A6ADEA1C1D21}" type="sibTrans" cxnId="{FBCF5CCE-0F18-4F29-BA2F-1EE2D818B6BD}">
      <dgm:prSet/>
      <dgm:spPr/>
      <dgm:t>
        <a:bodyPr/>
        <a:lstStyle/>
        <a:p>
          <a:endParaRPr lang="ru-RU"/>
        </a:p>
      </dgm:t>
    </dgm:pt>
    <dgm:pt modelId="{140335A9-571A-412B-A4B5-25AD0785CDD9}">
      <dgm:prSet phldrT="[Текст]" phldr="0"/>
      <dgm:spPr>
        <a:solidFill>
          <a:srgbClr val="234A9B"/>
        </a:solidFill>
      </dgm:spPr>
      <dgm:t>
        <a:bodyPr/>
        <a:lstStyle/>
        <a:p>
          <a:r>
            <a:rPr lang="ru-RU" dirty="0">
              <a:latin typeface="Arial" panose="020B0604020202020204" pitchFamily="34" charset="0"/>
              <a:cs typeface="Arial" panose="020B0604020202020204" pitchFamily="34" charset="0"/>
            </a:rPr>
            <a:t>4. Заполнение признака «Навыки»</a:t>
          </a:r>
        </a:p>
      </dgm:t>
    </dgm:pt>
    <dgm:pt modelId="{8F8D50D4-879D-49EB-A2F4-34B6E39E812D}" type="parTrans" cxnId="{59E4D9D0-4A11-495E-B24A-60697C3A1E44}">
      <dgm:prSet/>
      <dgm:spPr/>
      <dgm:t>
        <a:bodyPr/>
        <a:lstStyle/>
        <a:p>
          <a:endParaRPr lang="ru-RU"/>
        </a:p>
      </dgm:t>
    </dgm:pt>
    <dgm:pt modelId="{DF521EF0-D29E-4304-A0BF-2C6CABF3C89C}" type="sibTrans" cxnId="{59E4D9D0-4A11-495E-B24A-60697C3A1E44}">
      <dgm:prSet/>
      <dgm:spPr/>
      <dgm:t>
        <a:bodyPr/>
        <a:lstStyle/>
        <a:p>
          <a:endParaRPr lang="ru-RU"/>
        </a:p>
      </dgm:t>
    </dgm:pt>
    <dgm:pt modelId="{86048AD3-7043-4EB2-BE0A-3D3F48AA6B89}">
      <dgm:prSet phldrT="[Текст]" phldr="0" custT="1"/>
      <dgm:spPr/>
      <dgm:t>
        <a:bodyPr/>
        <a:lstStyle/>
        <a:p>
          <a:r>
            <a:rPr lang="en-US" sz="1300" dirty="0">
              <a:solidFill>
                <a:srgbClr val="556073"/>
              </a:solidFill>
              <a:latin typeface="Arial" panose="020B0604020202020204" pitchFamily="34" charset="0"/>
              <a:cs typeface="Arial" panose="020B0604020202020204" pitchFamily="34" charset="0"/>
            </a:rPr>
            <a:t>Regex</a:t>
          </a:r>
          <a:r>
            <a:rPr lang="ru-RU" sz="1300" dirty="0">
              <a:solidFill>
                <a:srgbClr val="556073"/>
              </a:solidFill>
              <a:latin typeface="Arial" panose="020B0604020202020204" pitchFamily="34" charset="0"/>
              <a:cs typeface="Arial" panose="020B0604020202020204" pitchFamily="34" charset="0"/>
            </a:rPr>
            <a:t> (при наличии блока в карточке) + </a:t>
          </a:r>
          <a:r>
            <a:rPr lang="en-US" sz="1300" dirty="0">
              <a:solidFill>
                <a:srgbClr val="556073"/>
              </a:solidFill>
              <a:latin typeface="Arial" panose="020B0604020202020204" pitchFamily="34" charset="0"/>
              <a:cs typeface="Arial" panose="020B0604020202020204" pitchFamily="34" charset="0"/>
            </a:rPr>
            <a:t>LLM Qwen2.5</a:t>
          </a:r>
          <a:r>
            <a:rPr lang="ru-RU" sz="1300" dirty="0">
              <a:solidFill>
                <a:srgbClr val="556073"/>
              </a:solidFill>
              <a:latin typeface="Arial" panose="020B0604020202020204" pitchFamily="34" charset="0"/>
              <a:cs typeface="Arial" panose="020B0604020202020204" pitchFamily="34" charset="0"/>
            </a:rPr>
            <a:t> (при отсутствии)</a:t>
          </a:r>
          <a:endParaRPr lang="ru-RU" sz="13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A165CC1-07CD-4407-B36F-217FAD1962F0}" type="parTrans" cxnId="{1C8D5A39-BEEE-44A2-AAC5-7B543DA26B05}">
      <dgm:prSet/>
      <dgm:spPr/>
      <dgm:t>
        <a:bodyPr/>
        <a:lstStyle/>
        <a:p>
          <a:endParaRPr lang="ru-RU"/>
        </a:p>
      </dgm:t>
    </dgm:pt>
    <dgm:pt modelId="{10E99093-8FFC-4775-92D4-B17ADDE2F107}" type="sibTrans" cxnId="{1C8D5A39-BEEE-44A2-AAC5-7B543DA26B05}">
      <dgm:prSet/>
      <dgm:spPr/>
      <dgm:t>
        <a:bodyPr/>
        <a:lstStyle/>
        <a:p>
          <a:endParaRPr lang="ru-RU"/>
        </a:p>
      </dgm:t>
    </dgm:pt>
    <dgm:pt modelId="{18287714-9BE4-429F-AF6A-6A3A464A4619}">
      <dgm:prSet phldrT="[Текст]" phldr="0"/>
      <dgm:spPr>
        <a:solidFill>
          <a:srgbClr val="234A9B"/>
        </a:solidFill>
      </dgm:spPr>
      <dgm:t>
        <a:bodyPr/>
        <a:lstStyle/>
        <a:p>
          <a:r>
            <a:rPr lang="ru-RU" dirty="0">
              <a:latin typeface="Arial" panose="020B0604020202020204" pitchFamily="34" charset="0"/>
              <a:cs typeface="Arial" panose="020B0604020202020204" pitchFamily="34" charset="0"/>
            </a:rPr>
            <a:t>5. Фильтрация релевантных резюме и вакансий</a:t>
          </a:r>
        </a:p>
      </dgm:t>
    </dgm:pt>
    <dgm:pt modelId="{871D9CF3-30BD-4A65-BA78-3FDC2A6D3E0D}" type="parTrans" cxnId="{31D42DA0-0EF3-4494-89F8-35D815DA2D8D}">
      <dgm:prSet/>
      <dgm:spPr/>
      <dgm:t>
        <a:bodyPr/>
        <a:lstStyle/>
        <a:p>
          <a:endParaRPr lang="ru-RU"/>
        </a:p>
      </dgm:t>
    </dgm:pt>
    <dgm:pt modelId="{812470CD-A1DA-4C2F-A66C-D72B66A1B355}" type="sibTrans" cxnId="{31D42DA0-0EF3-4494-89F8-35D815DA2D8D}">
      <dgm:prSet/>
      <dgm:spPr/>
      <dgm:t>
        <a:bodyPr/>
        <a:lstStyle/>
        <a:p>
          <a:endParaRPr lang="ru-RU"/>
        </a:p>
      </dgm:t>
    </dgm:pt>
    <dgm:pt modelId="{40BE2068-4817-4509-9E76-EF58209B7CE1}">
      <dgm:prSet phldrT="[Текст]" phldr="0" custT="1"/>
      <dgm:spPr/>
      <dgm:t>
        <a:bodyPr/>
        <a:lstStyle/>
        <a:p>
          <a:r>
            <a:rPr lang="ru-RU" sz="1300" dirty="0">
              <a:latin typeface="Arial" panose="020B0604020202020204" pitchFamily="34" charset="0"/>
              <a:cs typeface="Arial" panose="020B0604020202020204" pitchFamily="34" charset="0"/>
            </a:rPr>
            <a:t>Фильтрация производится также с помощью </a:t>
          </a:r>
          <a:r>
            <a:rPr lang="en-US" sz="1300" dirty="0">
              <a:latin typeface="Arial" panose="020B0604020202020204" pitchFamily="34" charset="0"/>
              <a:cs typeface="Arial" panose="020B0604020202020204" pitchFamily="34" charset="0"/>
            </a:rPr>
            <a:t>Regex </a:t>
          </a:r>
          <a:r>
            <a:rPr lang="ru-RU" sz="1300" dirty="0">
              <a:latin typeface="Arial" panose="020B0604020202020204" pitchFamily="34" charset="0"/>
              <a:cs typeface="Arial" panose="020B0604020202020204" pitchFamily="34" charset="0"/>
            </a:rPr>
            <a:t>по справочнику профессий</a:t>
          </a:r>
        </a:p>
      </dgm:t>
    </dgm:pt>
    <dgm:pt modelId="{ACDECFD6-CF8F-4932-A52E-18F78DF003AC}" type="parTrans" cxnId="{C21E3E34-F67F-4397-AB2F-0FB6AB2CEED7}">
      <dgm:prSet/>
      <dgm:spPr/>
      <dgm:t>
        <a:bodyPr/>
        <a:lstStyle/>
        <a:p>
          <a:endParaRPr lang="ru-RU"/>
        </a:p>
      </dgm:t>
    </dgm:pt>
    <dgm:pt modelId="{715DFBEB-3F20-44C7-A0E0-3529E65E2C43}" type="sibTrans" cxnId="{C21E3E34-F67F-4397-AB2F-0FB6AB2CEED7}">
      <dgm:prSet/>
      <dgm:spPr/>
      <dgm:t>
        <a:bodyPr/>
        <a:lstStyle/>
        <a:p>
          <a:endParaRPr lang="ru-RU"/>
        </a:p>
      </dgm:t>
    </dgm:pt>
    <dgm:pt modelId="{3B345050-F2CA-4D2E-9AD4-6C06FB2BCCDF}" type="pres">
      <dgm:prSet presAssocID="{75A825CE-57DF-4800-B39E-4057CD98DA68}" presName="linearFlow" presStyleCnt="0">
        <dgm:presLayoutVars>
          <dgm:dir/>
          <dgm:animLvl val="lvl"/>
          <dgm:resizeHandles val="exact"/>
        </dgm:presLayoutVars>
      </dgm:prSet>
      <dgm:spPr/>
    </dgm:pt>
    <dgm:pt modelId="{BD1AA1E4-239E-4322-AF4F-EA9984ECA1BB}" type="pres">
      <dgm:prSet presAssocID="{90DCADCC-FCBC-45AC-9FF5-7D5343692887}" presName="composite" presStyleCnt="0"/>
      <dgm:spPr/>
    </dgm:pt>
    <dgm:pt modelId="{129BBBA8-FE8E-4214-B0E1-A64910A50F0A}" type="pres">
      <dgm:prSet presAssocID="{90DCADCC-FCBC-45AC-9FF5-7D5343692887}" presName="par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54F938FB-B2F7-4732-8A8B-F135ECFE50EB}" type="pres">
      <dgm:prSet presAssocID="{90DCADCC-FCBC-45AC-9FF5-7D5343692887}" presName="parSh" presStyleLbl="node1" presStyleIdx="0" presStyleCnt="5"/>
      <dgm:spPr/>
    </dgm:pt>
    <dgm:pt modelId="{E79C2191-0E2E-43C1-A2B1-92FA947AC5E6}" type="pres">
      <dgm:prSet presAssocID="{90DCADCC-FCBC-45AC-9FF5-7D5343692887}" presName="desTx" presStyleLbl="fgAcc1" presStyleIdx="0" presStyleCnt="5">
        <dgm:presLayoutVars>
          <dgm:bulletEnabled val="1"/>
        </dgm:presLayoutVars>
      </dgm:prSet>
      <dgm:spPr/>
    </dgm:pt>
    <dgm:pt modelId="{50EF4CE1-862E-44BC-8399-7548D43B6626}" type="pres">
      <dgm:prSet presAssocID="{9702CBCD-00C7-4A6D-8A3A-7AD57B5A65EA}" presName="sibTrans" presStyleLbl="sibTrans2D1" presStyleIdx="0" presStyleCnt="4"/>
      <dgm:spPr/>
    </dgm:pt>
    <dgm:pt modelId="{6B578A50-9798-41AE-B1CE-408E84EC4AF0}" type="pres">
      <dgm:prSet presAssocID="{9702CBCD-00C7-4A6D-8A3A-7AD57B5A65EA}" presName="connTx" presStyleLbl="sibTrans2D1" presStyleIdx="0" presStyleCnt="4"/>
      <dgm:spPr/>
    </dgm:pt>
    <dgm:pt modelId="{DBF2D1DF-2E5E-4AB9-AE71-8A1DD930C5B4}" type="pres">
      <dgm:prSet presAssocID="{7E8A56A0-8B56-4EC0-A5A1-3AABAA352CB6}" presName="composite" presStyleCnt="0"/>
      <dgm:spPr/>
    </dgm:pt>
    <dgm:pt modelId="{744C43D9-FE1B-4657-A3CE-27912E05C244}" type="pres">
      <dgm:prSet presAssocID="{7E8A56A0-8B56-4EC0-A5A1-3AABAA352CB6}" presName="par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9C465E57-71A6-49A0-840F-F47E0FC17059}" type="pres">
      <dgm:prSet presAssocID="{7E8A56A0-8B56-4EC0-A5A1-3AABAA352CB6}" presName="parSh" presStyleLbl="node1" presStyleIdx="1" presStyleCnt="5"/>
      <dgm:spPr/>
    </dgm:pt>
    <dgm:pt modelId="{17A7F357-0CF5-4E67-8330-D1FAF189D8F9}" type="pres">
      <dgm:prSet presAssocID="{7E8A56A0-8B56-4EC0-A5A1-3AABAA352CB6}" presName="desTx" presStyleLbl="fgAcc1" presStyleIdx="1" presStyleCnt="5">
        <dgm:presLayoutVars>
          <dgm:bulletEnabled val="1"/>
        </dgm:presLayoutVars>
      </dgm:prSet>
      <dgm:spPr/>
    </dgm:pt>
    <dgm:pt modelId="{695B6BC3-F93F-4CAD-B1B2-C642F7AECBB0}" type="pres">
      <dgm:prSet presAssocID="{C75A9D76-CC27-4987-A806-4364C4DB6A51}" presName="sibTrans" presStyleLbl="sibTrans2D1" presStyleIdx="1" presStyleCnt="4"/>
      <dgm:spPr/>
    </dgm:pt>
    <dgm:pt modelId="{7B46CEE0-713A-43F6-8A8B-F50B26B8B153}" type="pres">
      <dgm:prSet presAssocID="{C75A9D76-CC27-4987-A806-4364C4DB6A51}" presName="connTx" presStyleLbl="sibTrans2D1" presStyleIdx="1" presStyleCnt="4"/>
      <dgm:spPr/>
    </dgm:pt>
    <dgm:pt modelId="{02AFC5A3-AF9B-435B-8543-ED5C8559783C}" type="pres">
      <dgm:prSet presAssocID="{9FF4A5F6-0061-4DBB-BD58-38E1C6439DCB}" presName="composite" presStyleCnt="0"/>
      <dgm:spPr/>
    </dgm:pt>
    <dgm:pt modelId="{1EC3EC17-3163-4576-B6D0-740AEAD4CD58}" type="pres">
      <dgm:prSet presAssocID="{9FF4A5F6-0061-4DBB-BD58-38E1C6439DCB}" presName="par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82664240-7138-4299-9F3A-80E4EAE4C947}" type="pres">
      <dgm:prSet presAssocID="{9FF4A5F6-0061-4DBB-BD58-38E1C6439DCB}" presName="parSh" presStyleLbl="node1" presStyleIdx="2" presStyleCnt="5"/>
      <dgm:spPr/>
    </dgm:pt>
    <dgm:pt modelId="{5E4EBE69-03A3-48BF-9790-36FACF8FA769}" type="pres">
      <dgm:prSet presAssocID="{9FF4A5F6-0061-4DBB-BD58-38E1C6439DCB}" presName="desTx" presStyleLbl="fgAcc1" presStyleIdx="2" presStyleCnt="5">
        <dgm:presLayoutVars>
          <dgm:bulletEnabled val="1"/>
        </dgm:presLayoutVars>
      </dgm:prSet>
      <dgm:spPr/>
    </dgm:pt>
    <dgm:pt modelId="{BB7CE08A-BFA3-4D35-A1CB-E7FFF017E6F6}" type="pres">
      <dgm:prSet presAssocID="{3D089FDE-983C-4D7D-A125-AD4F033E7014}" presName="sibTrans" presStyleLbl="sibTrans2D1" presStyleIdx="2" presStyleCnt="4"/>
      <dgm:spPr/>
    </dgm:pt>
    <dgm:pt modelId="{36EA25A7-1805-418C-BE6D-E583E3F02342}" type="pres">
      <dgm:prSet presAssocID="{3D089FDE-983C-4D7D-A125-AD4F033E7014}" presName="connTx" presStyleLbl="sibTrans2D1" presStyleIdx="2" presStyleCnt="4"/>
      <dgm:spPr/>
    </dgm:pt>
    <dgm:pt modelId="{F77B4F13-4021-4DBA-9A35-10666B544938}" type="pres">
      <dgm:prSet presAssocID="{140335A9-571A-412B-A4B5-25AD0785CDD9}" presName="composite" presStyleCnt="0"/>
      <dgm:spPr/>
    </dgm:pt>
    <dgm:pt modelId="{1E5194AE-0D12-4E30-9E25-73F459FC97CD}" type="pres">
      <dgm:prSet presAssocID="{140335A9-571A-412B-A4B5-25AD0785CDD9}" presName="par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144F99D2-507F-4831-90BA-F8B138217D3B}" type="pres">
      <dgm:prSet presAssocID="{140335A9-571A-412B-A4B5-25AD0785CDD9}" presName="parSh" presStyleLbl="node1" presStyleIdx="3" presStyleCnt="5"/>
      <dgm:spPr/>
    </dgm:pt>
    <dgm:pt modelId="{874005E5-23D5-4994-93D4-99150DE30118}" type="pres">
      <dgm:prSet presAssocID="{140335A9-571A-412B-A4B5-25AD0785CDD9}" presName="desTx" presStyleLbl="fgAcc1" presStyleIdx="3" presStyleCnt="5">
        <dgm:presLayoutVars>
          <dgm:bulletEnabled val="1"/>
        </dgm:presLayoutVars>
      </dgm:prSet>
      <dgm:spPr/>
    </dgm:pt>
    <dgm:pt modelId="{336D02B7-8998-4B96-B64B-66148B46A7E3}" type="pres">
      <dgm:prSet presAssocID="{DF521EF0-D29E-4304-A0BF-2C6CABF3C89C}" presName="sibTrans" presStyleLbl="sibTrans2D1" presStyleIdx="3" presStyleCnt="4"/>
      <dgm:spPr/>
    </dgm:pt>
    <dgm:pt modelId="{0E0F8270-4326-4CE6-A53D-700D83E185BC}" type="pres">
      <dgm:prSet presAssocID="{DF521EF0-D29E-4304-A0BF-2C6CABF3C89C}" presName="connTx" presStyleLbl="sibTrans2D1" presStyleIdx="3" presStyleCnt="4"/>
      <dgm:spPr/>
    </dgm:pt>
    <dgm:pt modelId="{01D6BA9F-A431-47E8-929E-DD7AD8DC3CD2}" type="pres">
      <dgm:prSet presAssocID="{18287714-9BE4-429F-AF6A-6A3A464A4619}" presName="composite" presStyleCnt="0"/>
      <dgm:spPr/>
    </dgm:pt>
    <dgm:pt modelId="{FDA7A3FE-16D0-41B8-ABE7-1632D8E93F20}" type="pres">
      <dgm:prSet presAssocID="{18287714-9BE4-429F-AF6A-6A3A464A4619}" presName="par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1E2AAEB3-AEDF-4024-A1D8-3422086419F6}" type="pres">
      <dgm:prSet presAssocID="{18287714-9BE4-429F-AF6A-6A3A464A4619}" presName="parSh" presStyleLbl="node1" presStyleIdx="4" presStyleCnt="5"/>
      <dgm:spPr/>
    </dgm:pt>
    <dgm:pt modelId="{6EED9631-916A-4F90-A0C5-433C5BD53679}" type="pres">
      <dgm:prSet presAssocID="{18287714-9BE4-429F-AF6A-6A3A464A4619}" presName="desTx" presStyleLbl="fgAcc1" presStyleIdx="4" presStyleCnt="5" custLinFactNeighborX="786" custLinFactNeighborY="-500">
        <dgm:presLayoutVars>
          <dgm:bulletEnabled val="1"/>
        </dgm:presLayoutVars>
      </dgm:prSet>
      <dgm:spPr/>
    </dgm:pt>
  </dgm:ptLst>
  <dgm:cxnLst>
    <dgm:cxn modelId="{E4590704-68D4-4375-9A84-F23B11FBF976}" type="presOf" srcId="{3D089FDE-983C-4D7D-A125-AD4F033E7014}" destId="{BB7CE08A-BFA3-4D35-A1CB-E7FFF017E6F6}" srcOrd="0" destOrd="0" presId="urn:microsoft.com/office/officeart/2005/8/layout/process3"/>
    <dgm:cxn modelId="{BE91920D-EAF5-4424-B75B-0F9E20D1D958}" type="presOf" srcId="{DF521EF0-D29E-4304-A0BF-2C6CABF3C89C}" destId="{0E0F8270-4326-4CE6-A53D-700D83E185BC}" srcOrd="1" destOrd="0" presId="urn:microsoft.com/office/officeart/2005/8/layout/process3"/>
    <dgm:cxn modelId="{7B29DD18-0065-48C6-A6CE-AEC20A7AC1F6}" type="presOf" srcId="{86048AD3-7043-4EB2-BE0A-3D3F48AA6B89}" destId="{874005E5-23D5-4994-93D4-99150DE30118}" srcOrd="0" destOrd="0" presId="urn:microsoft.com/office/officeart/2005/8/layout/process3"/>
    <dgm:cxn modelId="{3042B520-5C43-47F1-A68A-D5667A3A2334}" type="presOf" srcId="{9FF4A5F6-0061-4DBB-BD58-38E1C6439DCB}" destId="{1EC3EC17-3163-4576-B6D0-740AEAD4CD58}" srcOrd="0" destOrd="0" presId="urn:microsoft.com/office/officeart/2005/8/layout/process3"/>
    <dgm:cxn modelId="{A0D2FD30-D10C-4ABC-8099-37F2697B48F5}" type="presOf" srcId="{373E5955-4F2B-4A07-BC96-69F59CB19C02}" destId="{E79C2191-0E2E-43C1-A2B1-92FA947AC5E6}" srcOrd="0" destOrd="0" presId="urn:microsoft.com/office/officeart/2005/8/layout/process3"/>
    <dgm:cxn modelId="{C21E3E34-F67F-4397-AB2F-0FB6AB2CEED7}" srcId="{18287714-9BE4-429F-AF6A-6A3A464A4619}" destId="{40BE2068-4817-4509-9E76-EF58209B7CE1}" srcOrd="0" destOrd="0" parTransId="{ACDECFD6-CF8F-4932-A52E-18F78DF003AC}" sibTransId="{715DFBEB-3F20-44C7-A0E0-3529E65E2C43}"/>
    <dgm:cxn modelId="{429D6939-0F4A-47AD-97D2-51F639D2839A}" type="presOf" srcId="{7E8A56A0-8B56-4EC0-A5A1-3AABAA352CB6}" destId="{744C43D9-FE1B-4657-A3CE-27912E05C244}" srcOrd="0" destOrd="0" presId="urn:microsoft.com/office/officeart/2005/8/layout/process3"/>
    <dgm:cxn modelId="{1C8D5A39-BEEE-44A2-AAC5-7B543DA26B05}" srcId="{140335A9-571A-412B-A4B5-25AD0785CDD9}" destId="{86048AD3-7043-4EB2-BE0A-3D3F48AA6B89}" srcOrd="0" destOrd="0" parTransId="{DA165CC1-07CD-4407-B36F-217FAD1962F0}" sibTransId="{10E99093-8FFC-4775-92D4-B17ADDE2F107}"/>
    <dgm:cxn modelId="{CEBBEF39-9D72-4541-9EB9-B29358F2D8EC}" srcId="{7E8A56A0-8B56-4EC0-A5A1-3AABAA352CB6}" destId="{1E936130-2C3C-43AF-B965-9A756B3DAEAE}" srcOrd="0" destOrd="0" parTransId="{27DE28F0-CB51-48BA-A5E6-98C968BB3462}" sibTransId="{63E482F3-4B85-4561-9A96-DAC9DF96CAAB}"/>
    <dgm:cxn modelId="{1CB7FD5B-68EE-4482-99B9-70073ECC9B98}" type="presOf" srcId="{3D089FDE-983C-4D7D-A125-AD4F033E7014}" destId="{36EA25A7-1805-418C-BE6D-E583E3F02342}" srcOrd="1" destOrd="0" presId="urn:microsoft.com/office/officeart/2005/8/layout/process3"/>
    <dgm:cxn modelId="{9AC03665-5839-4EE4-8E7E-13BF38A53917}" type="presOf" srcId="{75A825CE-57DF-4800-B39E-4057CD98DA68}" destId="{3B345050-F2CA-4D2E-9AD4-6C06FB2BCCDF}" srcOrd="0" destOrd="0" presId="urn:microsoft.com/office/officeart/2005/8/layout/process3"/>
    <dgm:cxn modelId="{AF5DA066-A875-4D1E-8C67-7F051A2DB94B}" type="presOf" srcId="{9FF4A5F6-0061-4DBB-BD58-38E1C6439DCB}" destId="{82664240-7138-4299-9F3A-80E4EAE4C947}" srcOrd="1" destOrd="0" presId="urn:microsoft.com/office/officeart/2005/8/layout/process3"/>
    <dgm:cxn modelId="{A83D3D47-DFFB-4BE8-89FE-21B650911BEA}" srcId="{75A825CE-57DF-4800-B39E-4057CD98DA68}" destId="{7E8A56A0-8B56-4EC0-A5A1-3AABAA352CB6}" srcOrd="1" destOrd="0" parTransId="{F77BFA89-790C-46A8-80A5-8C4FB4C4E935}" sibTransId="{C75A9D76-CC27-4987-A806-4364C4DB6A51}"/>
    <dgm:cxn modelId="{E2B3D04A-12D0-4DDF-ACB3-90A511541D6A}" type="presOf" srcId="{B850FAD9-3942-4E04-B5EE-8A2F4AB9B5CD}" destId="{5E4EBE69-03A3-48BF-9790-36FACF8FA769}" srcOrd="0" destOrd="0" presId="urn:microsoft.com/office/officeart/2005/8/layout/process3"/>
    <dgm:cxn modelId="{286EE24C-D820-477C-A221-157FB887452B}" type="presOf" srcId="{C75A9D76-CC27-4987-A806-4364C4DB6A51}" destId="{7B46CEE0-713A-43F6-8A8B-F50B26B8B153}" srcOrd="1" destOrd="0" presId="urn:microsoft.com/office/officeart/2005/8/layout/process3"/>
    <dgm:cxn modelId="{20D73152-1111-4BDB-9E4A-3ABEF1EF8E48}" type="presOf" srcId="{90DCADCC-FCBC-45AC-9FF5-7D5343692887}" destId="{54F938FB-B2F7-4732-8A8B-F135ECFE50EB}" srcOrd="1" destOrd="0" presId="urn:microsoft.com/office/officeart/2005/8/layout/process3"/>
    <dgm:cxn modelId="{87D92974-4715-43F1-A733-2FA7518122D3}" type="presOf" srcId="{18287714-9BE4-429F-AF6A-6A3A464A4619}" destId="{1E2AAEB3-AEDF-4024-A1D8-3422086419F6}" srcOrd="1" destOrd="0" presId="urn:microsoft.com/office/officeart/2005/8/layout/process3"/>
    <dgm:cxn modelId="{609FFE55-93C7-447B-AF4D-90BE4D88AA3D}" type="presOf" srcId="{140335A9-571A-412B-A4B5-25AD0785CDD9}" destId="{1E5194AE-0D12-4E30-9E25-73F459FC97CD}" srcOrd="0" destOrd="0" presId="urn:microsoft.com/office/officeart/2005/8/layout/process3"/>
    <dgm:cxn modelId="{4A418978-E787-43FD-9F93-469DD7722087}" type="presOf" srcId="{40BE2068-4817-4509-9E76-EF58209B7CE1}" destId="{6EED9631-916A-4F90-A0C5-433C5BD53679}" srcOrd="0" destOrd="0" presId="urn:microsoft.com/office/officeart/2005/8/layout/process3"/>
    <dgm:cxn modelId="{EF78E679-3E26-4E0C-8046-BAD015E98F0D}" type="presOf" srcId="{18287714-9BE4-429F-AF6A-6A3A464A4619}" destId="{FDA7A3FE-16D0-41B8-ABE7-1632D8E93F20}" srcOrd="0" destOrd="0" presId="urn:microsoft.com/office/officeart/2005/8/layout/process3"/>
    <dgm:cxn modelId="{9A00A986-F3D2-4077-91FF-BAC2C17E1736}" type="presOf" srcId="{DF521EF0-D29E-4304-A0BF-2C6CABF3C89C}" destId="{336D02B7-8998-4B96-B64B-66148B46A7E3}" srcOrd="0" destOrd="0" presId="urn:microsoft.com/office/officeart/2005/8/layout/process3"/>
    <dgm:cxn modelId="{1BC42889-5512-4E84-9461-36A72BB04A2B}" type="presOf" srcId="{9702CBCD-00C7-4A6D-8A3A-7AD57B5A65EA}" destId="{50EF4CE1-862E-44BC-8399-7548D43B6626}" srcOrd="0" destOrd="0" presId="urn:microsoft.com/office/officeart/2005/8/layout/process3"/>
    <dgm:cxn modelId="{31D42DA0-0EF3-4494-89F8-35D815DA2D8D}" srcId="{75A825CE-57DF-4800-B39E-4057CD98DA68}" destId="{18287714-9BE4-429F-AF6A-6A3A464A4619}" srcOrd="4" destOrd="0" parTransId="{871D9CF3-30BD-4A65-BA78-3FDC2A6D3E0D}" sibTransId="{812470CD-A1DA-4C2F-A66C-D72B66A1B355}"/>
    <dgm:cxn modelId="{70BBB5A4-64AA-4363-A4B1-818D0185DE1A}" srcId="{90DCADCC-FCBC-45AC-9FF5-7D5343692887}" destId="{373E5955-4F2B-4A07-BC96-69F59CB19C02}" srcOrd="0" destOrd="0" parTransId="{C0096618-6551-4651-8C4B-F77914B0E440}" sibTransId="{6C087341-7FEC-49C2-9F52-0324FF371697}"/>
    <dgm:cxn modelId="{31ED99AF-18CF-4F28-95E9-DE224F8A206B}" type="presOf" srcId="{C75A9D76-CC27-4987-A806-4364C4DB6A51}" destId="{695B6BC3-F93F-4CAD-B1B2-C642F7AECBB0}" srcOrd="0" destOrd="0" presId="urn:microsoft.com/office/officeart/2005/8/layout/process3"/>
    <dgm:cxn modelId="{66F779B4-86F8-48FC-AFCC-6FB596717213}" type="presOf" srcId="{90DCADCC-FCBC-45AC-9FF5-7D5343692887}" destId="{129BBBA8-FE8E-4214-B0E1-A64910A50F0A}" srcOrd="0" destOrd="0" presId="urn:microsoft.com/office/officeart/2005/8/layout/process3"/>
    <dgm:cxn modelId="{963D4EBC-EFC1-4334-86AA-22EBEC09343E}" type="presOf" srcId="{140335A9-571A-412B-A4B5-25AD0785CDD9}" destId="{144F99D2-507F-4831-90BA-F8B138217D3B}" srcOrd="1" destOrd="0" presId="urn:microsoft.com/office/officeart/2005/8/layout/process3"/>
    <dgm:cxn modelId="{0399CAC3-A25D-4BB1-AFA6-68EE077A17FB}" type="presOf" srcId="{9702CBCD-00C7-4A6D-8A3A-7AD57B5A65EA}" destId="{6B578A50-9798-41AE-B1CE-408E84EC4AF0}" srcOrd="1" destOrd="0" presId="urn:microsoft.com/office/officeart/2005/8/layout/process3"/>
    <dgm:cxn modelId="{FBCF5CCE-0F18-4F29-BA2F-1EE2D818B6BD}" srcId="{9FF4A5F6-0061-4DBB-BD58-38E1C6439DCB}" destId="{B850FAD9-3942-4E04-B5EE-8A2F4AB9B5CD}" srcOrd="0" destOrd="0" parTransId="{103ADF5F-0C06-4D6F-8F16-778ABEA1C1CA}" sibTransId="{11FC476B-D548-497A-AE3B-A6ADEA1C1D21}"/>
    <dgm:cxn modelId="{59E4D9D0-4A11-495E-B24A-60697C3A1E44}" srcId="{75A825CE-57DF-4800-B39E-4057CD98DA68}" destId="{140335A9-571A-412B-A4B5-25AD0785CDD9}" srcOrd="3" destOrd="0" parTransId="{8F8D50D4-879D-49EB-A2F4-34B6E39E812D}" sibTransId="{DF521EF0-D29E-4304-A0BF-2C6CABF3C89C}"/>
    <dgm:cxn modelId="{0665D7D7-423B-4BEF-BE46-5DC7AD1E6EE6}" type="presOf" srcId="{7E8A56A0-8B56-4EC0-A5A1-3AABAA352CB6}" destId="{9C465E57-71A6-49A0-840F-F47E0FC17059}" srcOrd="1" destOrd="0" presId="urn:microsoft.com/office/officeart/2005/8/layout/process3"/>
    <dgm:cxn modelId="{741ED8ED-05AA-462C-B340-EA3906F63A4D}" srcId="{75A825CE-57DF-4800-B39E-4057CD98DA68}" destId="{90DCADCC-FCBC-45AC-9FF5-7D5343692887}" srcOrd="0" destOrd="0" parTransId="{5DB80B9A-9CC0-477E-B896-D2F552F97ACF}" sibTransId="{9702CBCD-00C7-4A6D-8A3A-7AD57B5A65EA}"/>
    <dgm:cxn modelId="{F257E9F2-B846-4C51-B0D7-2A35C07373E2}" type="presOf" srcId="{1E936130-2C3C-43AF-B965-9A756B3DAEAE}" destId="{17A7F357-0CF5-4E67-8330-D1FAF189D8F9}" srcOrd="0" destOrd="0" presId="urn:microsoft.com/office/officeart/2005/8/layout/process3"/>
    <dgm:cxn modelId="{B5BB77F6-6720-422A-A299-A0C32372B3AE}" srcId="{75A825CE-57DF-4800-B39E-4057CD98DA68}" destId="{9FF4A5F6-0061-4DBB-BD58-38E1C6439DCB}" srcOrd="2" destOrd="0" parTransId="{14B2C3D2-D43E-4B47-8CD3-BE3144A6A17A}" sibTransId="{3D089FDE-983C-4D7D-A125-AD4F033E7014}"/>
    <dgm:cxn modelId="{DD712C5E-44AE-4C9B-BCE6-948B5ABCAB58}" type="presParOf" srcId="{3B345050-F2CA-4D2E-9AD4-6C06FB2BCCDF}" destId="{BD1AA1E4-239E-4322-AF4F-EA9984ECA1BB}" srcOrd="0" destOrd="0" presId="urn:microsoft.com/office/officeart/2005/8/layout/process3"/>
    <dgm:cxn modelId="{39DADE80-773E-485B-A9F4-27EAD302A7C3}" type="presParOf" srcId="{BD1AA1E4-239E-4322-AF4F-EA9984ECA1BB}" destId="{129BBBA8-FE8E-4214-B0E1-A64910A50F0A}" srcOrd="0" destOrd="0" presId="urn:microsoft.com/office/officeart/2005/8/layout/process3"/>
    <dgm:cxn modelId="{8EFD2BC3-7BEB-4935-A2C6-3B1ADD474F62}" type="presParOf" srcId="{BD1AA1E4-239E-4322-AF4F-EA9984ECA1BB}" destId="{54F938FB-B2F7-4732-8A8B-F135ECFE50EB}" srcOrd="1" destOrd="0" presId="urn:microsoft.com/office/officeart/2005/8/layout/process3"/>
    <dgm:cxn modelId="{B36B30AC-D77E-430F-B5D1-3BB990B8106B}" type="presParOf" srcId="{BD1AA1E4-239E-4322-AF4F-EA9984ECA1BB}" destId="{E79C2191-0E2E-43C1-A2B1-92FA947AC5E6}" srcOrd="2" destOrd="0" presId="urn:microsoft.com/office/officeart/2005/8/layout/process3"/>
    <dgm:cxn modelId="{3F48E5D9-520E-44A6-BDB5-142DBD563540}" type="presParOf" srcId="{3B345050-F2CA-4D2E-9AD4-6C06FB2BCCDF}" destId="{50EF4CE1-862E-44BC-8399-7548D43B6626}" srcOrd="1" destOrd="0" presId="urn:microsoft.com/office/officeart/2005/8/layout/process3"/>
    <dgm:cxn modelId="{0BCF6E62-3298-4413-B0AB-2B7859B7C5D0}" type="presParOf" srcId="{50EF4CE1-862E-44BC-8399-7548D43B6626}" destId="{6B578A50-9798-41AE-B1CE-408E84EC4AF0}" srcOrd="0" destOrd="0" presId="urn:microsoft.com/office/officeart/2005/8/layout/process3"/>
    <dgm:cxn modelId="{8D8B8CDC-75CA-495D-8BEE-B116E891AEE8}" type="presParOf" srcId="{3B345050-F2CA-4D2E-9AD4-6C06FB2BCCDF}" destId="{DBF2D1DF-2E5E-4AB9-AE71-8A1DD930C5B4}" srcOrd="2" destOrd="0" presId="urn:microsoft.com/office/officeart/2005/8/layout/process3"/>
    <dgm:cxn modelId="{0EFF5005-F7E2-4469-A430-4359B24039CD}" type="presParOf" srcId="{DBF2D1DF-2E5E-4AB9-AE71-8A1DD930C5B4}" destId="{744C43D9-FE1B-4657-A3CE-27912E05C244}" srcOrd="0" destOrd="0" presId="urn:microsoft.com/office/officeart/2005/8/layout/process3"/>
    <dgm:cxn modelId="{F3A0FED9-9268-40C9-A5F8-F6308EBC2627}" type="presParOf" srcId="{DBF2D1DF-2E5E-4AB9-AE71-8A1DD930C5B4}" destId="{9C465E57-71A6-49A0-840F-F47E0FC17059}" srcOrd="1" destOrd="0" presId="urn:microsoft.com/office/officeart/2005/8/layout/process3"/>
    <dgm:cxn modelId="{4CACEDF3-9349-451F-A7EC-7AD514E592EF}" type="presParOf" srcId="{DBF2D1DF-2E5E-4AB9-AE71-8A1DD930C5B4}" destId="{17A7F357-0CF5-4E67-8330-D1FAF189D8F9}" srcOrd="2" destOrd="0" presId="urn:microsoft.com/office/officeart/2005/8/layout/process3"/>
    <dgm:cxn modelId="{967CC527-101E-4057-A00B-A4438330A548}" type="presParOf" srcId="{3B345050-F2CA-4D2E-9AD4-6C06FB2BCCDF}" destId="{695B6BC3-F93F-4CAD-B1B2-C642F7AECBB0}" srcOrd="3" destOrd="0" presId="urn:microsoft.com/office/officeart/2005/8/layout/process3"/>
    <dgm:cxn modelId="{972825CE-F08F-40EE-A174-10B4F3817897}" type="presParOf" srcId="{695B6BC3-F93F-4CAD-B1B2-C642F7AECBB0}" destId="{7B46CEE0-713A-43F6-8A8B-F50B26B8B153}" srcOrd="0" destOrd="0" presId="urn:microsoft.com/office/officeart/2005/8/layout/process3"/>
    <dgm:cxn modelId="{9315D7B1-822C-46AE-989D-DEEA28E9924B}" type="presParOf" srcId="{3B345050-F2CA-4D2E-9AD4-6C06FB2BCCDF}" destId="{02AFC5A3-AF9B-435B-8543-ED5C8559783C}" srcOrd="4" destOrd="0" presId="urn:microsoft.com/office/officeart/2005/8/layout/process3"/>
    <dgm:cxn modelId="{6511CEF5-9A85-4C93-92BF-934CF7B4910A}" type="presParOf" srcId="{02AFC5A3-AF9B-435B-8543-ED5C8559783C}" destId="{1EC3EC17-3163-4576-B6D0-740AEAD4CD58}" srcOrd="0" destOrd="0" presId="urn:microsoft.com/office/officeart/2005/8/layout/process3"/>
    <dgm:cxn modelId="{42C81157-1A9E-4224-9D1D-FC6933A2BEC6}" type="presParOf" srcId="{02AFC5A3-AF9B-435B-8543-ED5C8559783C}" destId="{82664240-7138-4299-9F3A-80E4EAE4C947}" srcOrd="1" destOrd="0" presId="urn:microsoft.com/office/officeart/2005/8/layout/process3"/>
    <dgm:cxn modelId="{24C3F03F-D70C-4B27-A2C0-B2CEBFB1FC6E}" type="presParOf" srcId="{02AFC5A3-AF9B-435B-8543-ED5C8559783C}" destId="{5E4EBE69-03A3-48BF-9790-36FACF8FA769}" srcOrd="2" destOrd="0" presId="urn:microsoft.com/office/officeart/2005/8/layout/process3"/>
    <dgm:cxn modelId="{AC9C9E0D-C01F-46E1-BC3F-DB239DC1F21D}" type="presParOf" srcId="{3B345050-F2CA-4D2E-9AD4-6C06FB2BCCDF}" destId="{BB7CE08A-BFA3-4D35-A1CB-E7FFF017E6F6}" srcOrd="5" destOrd="0" presId="urn:microsoft.com/office/officeart/2005/8/layout/process3"/>
    <dgm:cxn modelId="{23D0F749-1072-43ED-BD5F-0C194629CD39}" type="presParOf" srcId="{BB7CE08A-BFA3-4D35-A1CB-E7FFF017E6F6}" destId="{36EA25A7-1805-418C-BE6D-E583E3F02342}" srcOrd="0" destOrd="0" presId="urn:microsoft.com/office/officeart/2005/8/layout/process3"/>
    <dgm:cxn modelId="{0DD27025-DFE6-4259-A110-BE6B09912E65}" type="presParOf" srcId="{3B345050-F2CA-4D2E-9AD4-6C06FB2BCCDF}" destId="{F77B4F13-4021-4DBA-9A35-10666B544938}" srcOrd="6" destOrd="0" presId="urn:microsoft.com/office/officeart/2005/8/layout/process3"/>
    <dgm:cxn modelId="{C73E956F-6963-41C2-90EA-83BE883BD4B1}" type="presParOf" srcId="{F77B4F13-4021-4DBA-9A35-10666B544938}" destId="{1E5194AE-0D12-4E30-9E25-73F459FC97CD}" srcOrd="0" destOrd="0" presId="urn:microsoft.com/office/officeart/2005/8/layout/process3"/>
    <dgm:cxn modelId="{5B17435C-B327-481B-A0E0-B1B525739A51}" type="presParOf" srcId="{F77B4F13-4021-4DBA-9A35-10666B544938}" destId="{144F99D2-507F-4831-90BA-F8B138217D3B}" srcOrd="1" destOrd="0" presId="urn:microsoft.com/office/officeart/2005/8/layout/process3"/>
    <dgm:cxn modelId="{FA9FE8D5-CCB1-48FB-960D-72D114AF33E7}" type="presParOf" srcId="{F77B4F13-4021-4DBA-9A35-10666B544938}" destId="{874005E5-23D5-4994-93D4-99150DE30118}" srcOrd="2" destOrd="0" presId="urn:microsoft.com/office/officeart/2005/8/layout/process3"/>
    <dgm:cxn modelId="{4740AAA1-8B5C-4254-97D7-02FE520A24E0}" type="presParOf" srcId="{3B345050-F2CA-4D2E-9AD4-6C06FB2BCCDF}" destId="{336D02B7-8998-4B96-B64B-66148B46A7E3}" srcOrd="7" destOrd="0" presId="urn:microsoft.com/office/officeart/2005/8/layout/process3"/>
    <dgm:cxn modelId="{E0E220C0-7FAC-4D23-BB5B-BAE7CE179FA3}" type="presParOf" srcId="{336D02B7-8998-4B96-B64B-66148B46A7E3}" destId="{0E0F8270-4326-4CE6-A53D-700D83E185BC}" srcOrd="0" destOrd="0" presId="urn:microsoft.com/office/officeart/2005/8/layout/process3"/>
    <dgm:cxn modelId="{C57179F0-CB98-42FA-92D8-2A79A3601747}" type="presParOf" srcId="{3B345050-F2CA-4D2E-9AD4-6C06FB2BCCDF}" destId="{01D6BA9F-A431-47E8-929E-DD7AD8DC3CD2}" srcOrd="8" destOrd="0" presId="urn:microsoft.com/office/officeart/2005/8/layout/process3"/>
    <dgm:cxn modelId="{DF1C80A4-8C0D-4132-A646-086432126764}" type="presParOf" srcId="{01D6BA9F-A431-47E8-929E-DD7AD8DC3CD2}" destId="{FDA7A3FE-16D0-41B8-ABE7-1632D8E93F20}" srcOrd="0" destOrd="0" presId="urn:microsoft.com/office/officeart/2005/8/layout/process3"/>
    <dgm:cxn modelId="{C0C3DE44-7960-4A90-8BB1-C0F2F4783B19}" type="presParOf" srcId="{01D6BA9F-A431-47E8-929E-DD7AD8DC3CD2}" destId="{1E2AAEB3-AEDF-4024-A1D8-3422086419F6}" srcOrd="1" destOrd="0" presId="urn:microsoft.com/office/officeart/2005/8/layout/process3"/>
    <dgm:cxn modelId="{C7DA2F90-572C-4D9E-A158-D9E3C6ADF689}" type="presParOf" srcId="{01D6BA9F-A431-47E8-929E-DD7AD8DC3CD2}" destId="{6EED9631-916A-4F90-A0C5-433C5BD53679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DCFD36D-7505-4F59-92DF-D642306B7F4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2ADC22A-EF8A-49E8-AE38-3C4240C443CA}">
      <dgm:prSet phldrT="[Текст]" phldr="0" custT="1"/>
      <dgm:spPr>
        <a:solidFill>
          <a:srgbClr val="234A9B"/>
        </a:solidFill>
      </dgm:spPr>
      <dgm:t>
        <a:bodyPr/>
        <a:lstStyle/>
        <a:p>
          <a:r>
            <a:rPr lang="ru-RU" sz="1300" dirty="0">
              <a:latin typeface="Arial" panose="020B0604020202020204" pitchFamily="34" charset="0"/>
              <a:cs typeface="Arial" panose="020B0604020202020204" pitchFamily="34" charset="0"/>
            </a:rPr>
            <a:t>Совпадение по навыкам </a:t>
          </a:r>
          <a:r>
            <a:rPr lang="en-US" sz="1300" dirty="0" err="1">
              <a:latin typeface="Arial" panose="020B0604020202020204" pitchFamily="34" charset="0"/>
              <a:cs typeface="Arial" panose="020B0604020202020204" pitchFamily="34" charset="0"/>
            </a:rPr>
            <a:t>skill_score</a:t>
          </a:r>
          <a:endParaRPr lang="ru-RU" sz="13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199CAA7-0BA1-4123-99F5-C054F89F9FAF}" type="parTrans" cxnId="{8B48D249-9DF3-48BD-AEF1-B45E0949302A}">
      <dgm:prSet/>
      <dgm:spPr/>
      <dgm:t>
        <a:bodyPr/>
        <a:lstStyle/>
        <a:p>
          <a:endParaRPr lang="ru-RU"/>
        </a:p>
      </dgm:t>
    </dgm:pt>
    <dgm:pt modelId="{FE491E4A-6E81-4C1B-A5CB-D8E190091E2F}" type="sibTrans" cxnId="{8B48D249-9DF3-48BD-AEF1-B45E0949302A}">
      <dgm:prSet/>
      <dgm:spPr/>
      <dgm:t>
        <a:bodyPr/>
        <a:lstStyle/>
        <a:p>
          <a:endParaRPr lang="ru-RU"/>
        </a:p>
      </dgm:t>
    </dgm:pt>
    <dgm:pt modelId="{0E4C4C8F-EF51-4AB6-A331-18801A9D0233}">
      <dgm:prSet phldrT="[Текст]" phldr="0" custT="1"/>
      <dgm:spPr>
        <a:solidFill>
          <a:srgbClr val="234A9B"/>
        </a:solidFill>
      </dgm:spPr>
      <dgm:t>
        <a:bodyPr/>
        <a:lstStyle/>
        <a:p>
          <a:r>
            <a:rPr lang="ru-RU" sz="1300" dirty="0">
              <a:latin typeface="Arial" panose="020B0604020202020204" pitchFamily="34" charset="0"/>
              <a:cs typeface="Arial" panose="020B0604020202020204" pitchFamily="34" charset="0"/>
            </a:rPr>
            <a:t>Соответствие по опыту </a:t>
          </a:r>
          <a:r>
            <a:rPr lang="en-US" sz="1300" dirty="0" err="1">
              <a:latin typeface="Arial" panose="020B0604020202020204" pitchFamily="34" charset="0"/>
              <a:cs typeface="Arial" panose="020B0604020202020204" pitchFamily="34" charset="0"/>
            </a:rPr>
            <a:t>exp_score</a:t>
          </a:r>
          <a:endParaRPr lang="ru-RU" sz="13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7A670A8-DDBA-4587-BAE4-353077903E88}" type="parTrans" cxnId="{7A3906D1-2610-46AC-A8C2-B718881FD4D2}">
      <dgm:prSet/>
      <dgm:spPr/>
      <dgm:t>
        <a:bodyPr/>
        <a:lstStyle/>
        <a:p>
          <a:endParaRPr lang="ru-RU"/>
        </a:p>
      </dgm:t>
    </dgm:pt>
    <dgm:pt modelId="{F53F5010-6A8E-448D-B2AB-47C7191F7624}" type="sibTrans" cxnId="{7A3906D1-2610-46AC-A8C2-B718881FD4D2}">
      <dgm:prSet/>
      <dgm:spPr/>
      <dgm:t>
        <a:bodyPr/>
        <a:lstStyle/>
        <a:p>
          <a:endParaRPr lang="ru-RU"/>
        </a:p>
      </dgm:t>
    </dgm:pt>
    <dgm:pt modelId="{47B2BF56-02A0-4343-8F08-2F3825354606}">
      <dgm:prSet phldrT="[Текст]" phldr="0" custT="1"/>
      <dgm:spPr>
        <a:solidFill>
          <a:srgbClr val="234A9B"/>
        </a:solidFill>
      </dgm:spPr>
      <dgm:t>
        <a:bodyPr/>
        <a:lstStyle/>
        <a:p>
          <a:r>
            <a:rPr lang="ru-RU" sz="1300" dirty="0">
              <a:latin typeface="Arial" panose="020B0604020202020204" pitchFamily="34" charset="0"/>
              <a:cs typeface="Arial" panose="020B0604020202020204" pitchFamily="34" charset="0"/>
            </a:rPr>
            <a:t>Расчет </a:t>
          </a:r>
          <a:r>
            <a:rPr lang="en-US" sz="1300" dirty="0" err="1">
              <a:latin typeface="Arial" panose="020B0604020202020204" pitchFamily="34" charset="0"/>
              <a:cs typeface="Arial" panose="020B0604020202020204" pitchFamily="34" charset="0"/>
            </a:rPr>
            <a:t>final_score</a:t>
          </a:r>
          <a:endParaRPr lang="ru-RU" sz="13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9338E77-DA4A-45B9-86A6-CA34A8EC2484}" type="parTrans" cxnId="{7FA1136A-541C-41B4-8A23-31D5996117D0}">
      <dgm:prSet/>
      <dgm:spPr/>
      <dgm:t>
        <a:bodyPr/>
        <a:lstStyle/>
        <a:p>
          <a:endParaRPr lang="ru-RU"/>
        </a:p>
      </dgm:t>
    </dgm:pt>
    <dgm:pt modelId="{17D2F2DE-BA26-4C40-AD30-9861A10932A1}" type="sibTrans" cxnId="{7FA1136A-541C-41B4-8A23-31D5996117D0}">
      <dgm:prSet/>
      <dgm:spPr/>
      <dgm:t>
        <a:bodyPr/>
        <a:lstStyle/>
        <a:p>
          <a:endParaRPr lang="ru-RU"/>
        </a:p>
      </dgm:t>
    </dgm:pt>
    <dgm:pt modelId="{361BA0AD-1AD5-42F6-A90E-220A42D5F2EB}" type="pres">
      <dgm:prSet presAssocID="{CDCFD36D-7505-4F59-92DF-D642306B7F46}" presName="diagram" presStyleCnt="0">
        <dgm:presLayoutVars>
          <dgm:dir/>
          <dgm:resizeHandles val="exact"/>
        </dgm:presLayoutVars>
      </dgm:prSet>
      <dgm:spPr/>
    </dgm:pt>
    <dgm:pt modelId="{6FDC0BF6-FC53-4149-909F-055CB24F453F}" type="pres">
      <dgm:prSet presAssocID="{02ADC22A-EF8A-49E8-AE38-3C4240C443CA}" presName="node" presStyleLbl="node1" presStyleIdx="0" presStyleCnt="3">
        <dgm:presLayoutVars>
          <dgm:bulletEnabled val="1"/>
        </dgm:presLayoutVars>
      </dgm:prSet>
      <dgm:spPr/>
    </dgm:pt>
    <dgm:pt modelId="{2DFABE4E-3481-44D4-A167-F428229B8535}" type="pres">
      <dgm:prSet presAssocID="{FE491E4A-6E81-4C1B-A5CB-D8E190091E2F}" presName="sibTrans" presStyleCnt="0"/>
      <dgm:spPr/>
    </dgm:pt>
    <dgm:pt modelId="{21A6F94C-7927-49CA-AACB-47C3E1467EEF}" type="pres">
      <dgm:prSet presAssocID="{0E4C4C8F-EF51-4AB6-A331-18801A9D0233}" presName="node" presStyleLbl="node1" presStyleIdx="1" presStyleCnt="3">
        <dgm:presLayoutVars>
          <dgm:bulletEnabled val="1"/>
        </dgm:presLayoutVars>
      </dgm:prSet>
      <dgm:spPr/>
    </dgm:pt>
    <dgm:pt modelId="{6FD2F61F-85BE-47E7-BD27-AEA87FAE10C7}" type="pres">
      <dgm:prSet presAssocID="{F53F5010-6A8E-448D-B2AB-47C7191F7624}" presName="sibTrans" presStyleCnt="0"/>
      <dgm:spPr/>
    </dgm:pt>
    <dgm:pt modelId="{1E617EA9-EBD1-437F-B3C0-508EBC757353}" type="pres">
      <dgm:prSet presAssocID="{47B2BF56-02A0-4343-8F08-2F3825354606}" presName="node" presStyleLbl="node1" presStyleIdx="2" presStyleCnt="3">
        <dgm:presLayoutVars>
          <dgm:bulletEnabled val="1"/>
        </dgm:presLayoutVars>
      </dgm:prSet>
      <dgm:spPr/>
    </dgm:pt>
  </dgm:ptLst>
  <dgm:cxnLst>
    <dgm:cxn modelId="{D4E40104-420E-47FA-9948-35FB2868872D}" type="presOf" srcId="{47B2BF56-02A0-4343-8F08-2F3825354606}" destId="{1E617EA9-EBD1-437F-B3C0-508EBC757353}" srcOrd="0" destOrd="0" presId="urn:microsoft.com/office/officeart/2005/8/layout/default"/>
    <dgm:cxn modelId="{26F8EC17-4DAD-4C06-B208-524817E9A106}" type="presOf" srcId="{0E4C4C8F-EF51-4AB6-A331-18801A9D0233}" destId="{21A6F94C-7927-49CA-AACB-47C3E1467EEF}" srcOrd="0" destOrd="0" presId="urn:microsoft.com/office/officeart/2005/8/layout/default"/>
    <dgm:cxn modelId="{8B48D249-9DF3-48BD-AEF1-B45E0949302A}" srcId="{CDCFD36D-7505-4F59-92DF-D642306B7F46}" destId="{02ADC22A-EF8A-49E8-AE38-3C4240C443CA}" srcOrd="0" destOrd="0" parTransId="{E199CAA7-0BA1-4123-99F5-C054F89F9FAF}" sibTransId="{FE491E4A-6E81-4C1B-A5CB-D8E190091E2F}"/>
    <dgm:cxn modelId="{7FA1136A-541C-41B4-8A23-31D5996117D0}" srcId="{CDCFD36D-7505-4F59-92DF-D642306B7F46}" destId="{47B2BF56-02A0-4343-8F08-2F3825354606}" srcOrd="2" destOrd="0" parTransId="{49338E77-DA4A-45B9-86A6-CA34A8EC2484}" sibTransId="{17D2F2DE-BA26-4C40-AD30-9861A10932A1}"/>
    <dgm:cxn modelId="{7A3906D1-2610-46AC-A8C2-B718881FD4D2}" srcId="{CDCFD36D-7505-4F59-92DF-D642306B7F46}" destId="{0E4C4C8F-EF51-4AB6-A331-18801A9D0233}" srcOrd="1" destOrd="0" parTransId="{57A670A8-DDBA-4587-BAE4-353077903E88}" sibTransId="{F53F5010-6A8E-448D-B2AB-47C7191F7624}"/>
    <dgm:cxn modelId="{8B23B5E8-E11B-49A1-8F53-6150EDEA0C17}" type="presOf" srcId="{02ADC22A-EF8A-49E8-AE38-3C4240C443CA}" destId="{6FDC0BF6-FC53-4149-909F-055CB24F453F}" srcOrd="0" destOrd="0" presId="urn:microsoft.com/office/officeart/2005/8/layout/default"/>
    <dgm:cxn modelId="{99DBABEB-47CD-4A33-9052-CCEAB26F62CE}" type="presOf" srcId="{CDCFD36D-7505-4F59-92DF-D642306B7F46}" destId="{361BA0AD-1AD5-42F6-A90E-220A42D5F2EB}" srcOrd="0" destOrd="0" presId="urn:microsoft.com/office/officeart/2005/8/layout/default"/>
    <dgm:cxn modelId="{5273519A-4737-4D17-B3D2-DDBC38FD90B6}" type="presParOf" srcId="{361BA0AD-1AD5-42F6-A90E-220A42D5F2EB}" destId="{6FDC0BF6-FC53-4149-909F-055CB24F453F}" srcOrd="0" destOrd="0" presId="urn:microsoft.com/office/officeart/2005/8/layout/default"/>
    <dgm:cxn modelId="{C08EE7DD-A484-42EA-9F0D-20DA053CC13A}" type="presParOf" srcId="{361BA0AD-1AD5-42F6-A90E-220A42D5F2EB}" destId="{2DFABE4E-3481-44D4-A167-F428229B8535}" srcOrd="1" destOrd="0" presId="urn:microsoft.com/office/officeart/2005/8/layout/default"/>
    <dgm:cxn modelId="{47AB77D6-30D7-497E-80C2-F344F8D415BA}" type="presParOf" srcId="{361BA0AD-1AD5-42F6-A90E-220A42D5F2EB}" destId="{21A6F94C-7927-49CA-AACB-47C3E1467EEF}" srcOrd="2" destOrd="0" presId="urn:microsoft.com/office/officeart/2005/8/layout/default"/>
    <dgm:cxn modelId="{FE7F0F51-D7D5-437C-8D92-C2B7F6368F65}" type="presParOf" srcId="{361BA0AD-1AD5-42F6-A90E-220A42D5F2EB}" destId="{6FD2F61F-85BE-47E7-BD27-AEA87FAE10C7}" srcOrd="3" destOrd="0" presId="urn:microsoft.com/office/officeart/2005/8/layout/default"/>
    <dgm:cxn modelId="{ED736CF2-F83E-4A81-B4EE-EA1C8AAC0935}" type="presParOf" srcId="{361BA0AD-1AD5-42F6-A90E-220A42D5F2EB}" destId="{1E617EA9-EBD1-437F-B3C0-508EBC757353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60B5D1-3611-4605-96B6-5281BD777448}">
      <dsp:nvSpPr>
        <dsp:cNvPr id="0" name=""/>
        <dsp:cNvSpPr/>
      </dsp:nvSpPr>
      <dsp:spPr>
        <a:xfrm>
          <a:off x="-4734572" y="-725727"/>
          <a:ext cx="5639407" cy="5639407"/>
        </a:xfrm>
        <a:prstGeom prst="blockArc">
          <a:avLst>
            <a:gd name="adj1" fmla="val 18900000"/>
            <a:gd name="adj2" fmla="val 2700000"/>
            <a:gd name="adj3" fmla="val 383"/>
          </a:avLst>
        </a:pr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B7B350-2C4C-47BF-BA3D-C52650C39F33}">
      <dsp:nvSpPr>
        <dsp:cNvPr id="0" name=""/>
        <dsp:cNvSpPr/>
      </dsp:nvSpPr>
      <dsp:spPr>
        <a:xfrm>
          <a:off x="337779" y="220537"/>
          <a:ext cx="11281964" cy="44090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9970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>
              <a:latin typeface="Arial" panose="020B0604020202020204" pitchFamily="34" charset="0"/>
              <a:cs typeface="Arial" panose="020B0604020202020204" pitchFamily="34" charset="0"/>
            </a:rPr>
            <a:t>Изучить предметную область и существующие подходы к сопоставлению резюме и вакансий</a:t>
          </a:r>
        </a:p>
      </dsp:txBody>
      <dsp:txXfrm>
        <a:off x="337779" y="220537"/>
        <a:ext cx="11281964" cy="440907"/>
      </dsp:txXfrm>
    </dsp:sp>
    <dsp:sp modelId="{1D274A8B-AA12-4DF2-9285-6BA1AA1FB5FA}">
      <dsp:nvSpPr>
        <dsp:cNvPr id="0" name=""/>
        <dsp:cNvSpPr/>
      </dsp:nvSpPr>
      <dsp:spPr>
        <a:xfrm>
          <a:off x="62212" y="165424"/>
          <a:ext cx="551134" cy="5511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EFC663-5F46-458D-9EE1-3997C925C576}">
      <dsp:nvSpPr>
        <dsp:cNvPr id="0" name=""/>
        <dsp:cNvSpPr/>
      </dsp:nvSpPr>
      <dsp:spPr>
        <a:xfrm>
          <a:off x="700456" y="881815"/>
          <a:ext cx="10919287" cy="44090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9970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>
              <a:latin typeface="Arial" panose="020B0604020202020204" pitchFamily="34" charset="0"/>
              <a:cs typeface="Arial" panose="020B0604020202020204" pitchFamily="34" charset="0"/>
            </a:rPr>
            <a:t>Собрать</a:t>
          </a:r>
          <a:r>
            <a:rPr lang="ru-RU" sz="1900" kern="1200" dirty="0"/>
            <a:t> и подготовить данные о резюме и вакансиях</a:t>
          </a:r>
        </a:p>
      </dsp:txBody>
      <dsp:txXfrm>
        <a:off x="700456" y="881815"/>
        <a:ext cx="10919287" cy="440907"/>
      </dsp:txXfrm>
    </dsp:sp>
    <dsp:sp modelId="{1FD9C764-D987-45D7-A920-F29662AC5596}">
      <dsp:nvSpPr>
        <dsp:cNvPr id="0" name=""/>
        <dsp:cNvSpPr/>
      </dsp:nvSpPr>
      <dsp:spPr>
        <a:xfrm>
          <a:off x="424889" y="826701"/>
          <a:ext cx="551134" cy="5511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A7180C-8F7F-4175-9D8F-8DEDDAA25B4D}">
      <dsp:nvSpPr>
        <dsp:cNvPr id="0" name=""/>
        <dsp:cNvSpPr/>
      </dsp:nvSpPr>
      <dsp:spPr>
        <a:xfrm>
          <a:off x="866299" y="1543092"/>
          <a:ext cx="10753444" cy="44090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9970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>
              <a:latin typeface="Arial" panose="020B0604020202020204" pitchFamily="34" charset="0"/>
              <a:cs typeface="Arial" panose="020B0604020202020204" pitchFamily="34" charset="0"/>
            </a:rPr>
            <a:t>Выделить</a:t>
          </a:r>
          <a:r>
            <a:rPr lang="ru-RU" sz="1900" kern="1200" dirty="0"/>
            <a:t> ключевые признаки для сопоставления</a:t>
          </a:r>
        </a:p>
      </dsp:txBody>
      <dsp:txXfrm>
        <a:off x="866299" y="1543092"/>
        <a:ext cx="10753444" cy="440907"/>
      </dsp:txXfrm>
    </dsp:sp>
    <dsp:sp modelId="{631550E0-AC7A-45A3-AF86-9A64B695BE92}">
      <dsp:nvSpPr>
        <dsp:cNvPr id="0" name=""/>
        <dsp:cNvSpPr/>
      </dsp:nvSpPr>
      <dsp:spPr>
        <a:xfrm>
          <a:off x="590731" y="1487979"/>
          <a:ext cx="551134" cy="5511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3C8D87-6FE2-496A-95DD-698A00BD925A}">
      <dsp:nvSpPr>
        <dsp:cNvPr id="0" name=""/>
        <dsp:cNvSpPr/>
      </dsp:nvSpPr>
      <dsp:spPr>
        <a:xfrm>
          <a:off x="866299" y="2203951"/>
          <a:ext cx="10753444" cy="44090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9970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>
              <a:latin typeface="Arial" panose="020B0604020202020204" pitchFamily="34" charset="0"/>
              <a:cs typeface="Arial" panose="020B0604020202020204" pitchFamily="34" charset="0"/>
            </a:rPr>
            <a:t>Разработать</a:t>
          </a:r>
          <a:r>
            <a:rPr lang="ru-RU" sz="1900" kern="1200" dirty="0"/>
            <a:t> алгоритм ранжирования вакансий для выбранного резюме</a:t>
          </a:r>
        </a:p>
      </dsp:txBody>
      <dsp:txXfrm>
        <a:off x="866299" y="2203951"/>
        <a:ext cx="10753444" cy="440907"/>
      </dsp:txXfrm>
    </dsp:sp>
    <dsp:sp modelId="{42737D49-28D3-4007-9CFF-77478DB42B7E}">
      <dsp:nvSpPr>
        <dsp:cNvPr id="0" name=""/>
        <dsp:cNvSpPr/>
      </dsp:nvSpPr>
      <dsp:spPr>
        <a:xfrm>
          <a:off x="590731" y="2148838"/>
          <a:ext cx="551134" cy="5511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92AE72-8510-423C-9643-9C40179E0FA9}">
      <dsp:nvSpPr>
        <dsp:cNvPr id="0" name=""/>
        <dsp:cNvSpPr/>
      </dsp:nvSpPr>
      <dsp:spPr>
        <a:xfrm>
          <a:off x="700456" y="2865229"/>
          <a:ext cx="10919287" cy="44090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9970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>
              <a:latin typeface="Arial" panose="020B0604020202020204" pitchFamily="34" charset="0"/>
              <a:cs typeface="Arial" panose="020B0604020202020204" pitchFamily="34" charset="0"/>
            </a:rPr>
            <a:t>Провести</a:t>
          </a:r>
          <a:r>
            <a:rPr lang="ru-RU" sz="1900" kern="1200" dirty="0"/>
            <a:t> экспериментальную оценку качества результатов</a:t>
          </a:r>
        </a:p>
      </dsp:txBody>
      <dsp:txXfrm>
        <a:off x="700456" y="2865229"/>
        <a:ext cx="10919287" cy="440907"/>
      </dsp:txXfrm>
    </dsp:sp>
    <dsp:sp modelId="{41AA40AC-8467-4A54-81AA-8A0B57C8BA78}">
      <dsp:nvSpPr>
        <dsp:cNvPr id="0" name=""/>
        <dsp:cNvSpPr/>
      </dsp:nvSpPr>
      <dsp:spPr>
        <a:xfrm>
          <a:off x="424889" y="2810115"/>
          <a:ext cx="551134" cy="5511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E690D1-4A7D-4C3A-8287-3E791668CD7E}">
      <dsp:nvSpPr>
        <dsp:cNvPr id="0" name=""/>
        <dsp:cNvSpPr/>
      </dsp:nvSpPr>
      <dsp:spPr>
        <a:xfrm>
          <a:off x="286559" y="3521401"/>
          <a:ext cx="11281964" cy="44090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9970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>
              <a:latin typeface="Arial" panose="020B0604020202020204" pitchFamily="34" charset="0"/>
              <a:cs typeface="Arial" panose="020B0604020202020204" pitchFamily="34" charset="0"/>
            </a:rPr>
            <a:t>Разработать</a:t>
          </a:r>
          <a:r>
            <a:rPr lang="ru-RU" sz="1900" kern="1200" dirty="0"/>
            <a:t> демонстрационный интерфейс системы</a:t>
          </a:r>
        </a:p>
      </dsp:txBody>
      <dsp:txXfrm>
        <a:off x="286559" y="3521401"/>
        <a:ext cx="11281964" cy="440907"/>
      </dsp:txXfrm>
    </dsp:sp>
    <dsp:sp modelId="{EF45F65B-2AAE-46D3-9000-420AC6B3B542}">
      <dsp:nvSpPr>
        <dsp:cNvPr id="0" name=""/>
        <dsp:cNvSpPr/>
      </dsp:nvSpPr>
      <dsp:spPr>
        <a:xfrm>
          <a:off x="62212" y="3471393"/>
          <a:ext cx="551134" cy="55113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302E80-85B7-4AA0-9F80-6FA46D7B8C5B}">
      <dsp:nvSpPr>
        <dsp:cNvPr id="0" name=""/>
        <dsp:cNvSpPr/>
      </dsp:nvSpPr>
      <dsp:spPr>
        <a:xfrm rot="5400000">
          <a:off x="-264846" y="265438"/>
          <a:ext cx="1765645" cy="1235951"/>
        </a:xfrm>
        <a:prstGeom prst="chevron">
          <a:avLst/>
        </a:prstGeom>
        <a:solidFill>
          <a:srgbClr val="234A9B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b="1" kern="1200" dirty="0">
              <a:latin typeface="Arial" panose="020B0604020202020204" pitchFamily="34" charset="0"/>
              <a:cs typeface="Arial" panose="020B0604020202020204" pitchFamily="34" charset="0"/>
            </a:rPr>
            <a:t>Парсинг 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b="1" kern="1200" dirty="0">
              <a:latin typeface="Arial" panose="020B0604020202020204" pitchFamily="34" charset="0"/>
              <a:cs typeface="Arial" panose="020B0604020202020204" pitchFamily="34" charset="0"/>
            </a:rPr>
            <a:t>ссылок</a:t>
          </a:r>
        </a:p>
      </dsp:txBody>
      <dsp:txXfrm rot="-5400000">
        <a:off x="2" y="618567"/>
        <a:ext cx="1235951" cy="529694"/>
      </dsp:txXfrm>
    </dsp:sp>
    <dsp:sp modelId="{73DF31C2-92DC-45B0-BF45-557151AAF920}">
      <dsp:nvSpPr>
        <dsp:cNvPr id="0" name=""/>
        <dsp:cNvSpPr/>
      </dsp:nvSpPr>
      <dsp:spPr>
        <a:xfrm rot="5400000">
          <a:off x="3727782" y="-2491238"/>
          <a:ext cx="1147669" cy="613133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>
              <a:latin typeface="Arial" panose="020B0604020202020204" pitchFamily="34" charset="0"/>
              <a:cs typeface="Arial" panose="020B0604020202020204" pitchFamily="34" charset="0"/>
            </a:rPr>
            <a:t> Производится парсинг ссылок вакансий и резюме с </a:t>
          </a:r>
          <a:r>
            <a:rPr lang="en-US" sz="1300" kern="1200" dirty="0" err="1">
              <a:latin typeface="Arial" panose="020B0604020202020204" pitchFamily="34" charset="0"/>
              <a:cs typeface="Arial" panose="020B0604020202020204" pitchFamily="34" charset="0"/>
            </a:rPr>
            <a:t>HeadHunter</a:t>
          </a:r>
          <a:r>
            <a:rPr lang="ru-RU" sz="1300" kern="1200" dirty="0">
              <a:latin typeface="Arial" panose="020B0604020202020204" pitchFamily="34" charset="0"/>
              <a:cs typeface="Arial" panose="020B0604020202020204" pitchFamily="34" charset="0"/>
            </a:rPr>
            <a:t> (</a:t>
          </a:r>
          <a:r>
            <a:rPr lang="en-US" sz="1300" kern="1200" dirty="0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1"/>
            </a:rPr>
            <a:t>https://hh.ru/</a:t>
          </a:r>
          <a:r>
            <a:rPr lang="ru-RU" sz="1300" kern="1200" dirty="0">
              <a:latin typeface="Arial" panose="020B0604020202020204" pitchFamily="34" charset="0"/>
              <a:cs typeface="Arial" panose="020B0604020202020204" pitchFamily="34" charset="0"/>
            </a:rPr>
            <a:t>)</a:t>
          </a:r>
          <a:r>
            <a:rPr lang="en-US" sz="1300" kern="1200" dirty="0"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ru-RU" sz="1300" kern="1200" dirty="0">
              <a:latin typeface="Arial" panose="020B0604020202020204" pitchFamily="34" charset="0"/>
              <a:cs typeface="Arial" panose="020B0604020202020204" pitchFamily="34" charset="0"/>
            </a:rPr>
            <a:t>парсинг производится по таблице-справочнику специальностей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>
              <a:latin typeface="Arial" panose="020B0604020202020204" pitchFamily="34" charset="0"/>
              <a:cs typeface="Arial" panose="020B0604020202020204" pitchFamily="34" charset="0"/>
            </a:rPr>
            <a:t>Сохранение полученных ссылок в БД </a:t>
          </a:r>
          <a:r>
            <a:rPr lang="en-US" sz="1300" kern="1200" dirty="0">
              <a:latin typeface="Arial" panose="020B0604020202020204" pitchFamily="34" charset="0"/>
              <a:cs typeface="Arial" panose="020B0604020202020204" pitchFamily="34" charset="0"/>
            </a:rPr>
            <a:t>PostgreSQL</a:t>
          </a:r>
          <a:endParaRPr lang="ru-RU" sz="13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1235952" y="56617"/>
        <a:ext cx="6075305" cy="1035619"/>
      </dsp:txXfrm>
    </dsp:sp>
    <dsp:sp modelId="{32ED9340-2C84-4F7F-91AD-4AFF100D6259}">
      <dsp:nvSpPr>
        <dsp:cNvPr id="0" name=""/>
        <dsp:cNvSpPr/>
      </dsp:nvSpPr>
      <dsp:spPr>
        <a:xfrm rot="5400000">
          <a:off x="-264846" y="1838574"/>
          <a:ext cx="1765645" cy="1235951"/>
        </a:xfrm>
        <a:prstGeom prst="chevron">
          <a:avLst/>
        </a:prstGeom>
        <a:solidFill>
          <a:srgbClr val="234A9B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b="1" kern="1200" dirty="0">
              <a:latin typeface="Arial" panose="020B0604020202020204" pitchFamily="34" charset="0"/>
              <a:cs typeface="Arial" panose="020B0604020202020204" pitchFamily="34" charset="0"/>
            </a:rPr>
            <a:t>Парсинг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b="1" kern="1200" dirty="0">
              <a:latin typeface="Arial" panose="020B0604020202020204" pitchFamily="34" charset="0"/>
              <a:cs typeface="Arial" panose="020B0604020202020204" pitchFamily="34" charset="0"/>
            </a:rPr>
            <a:t>текстов</a:t>
          </a:r>
        </a:p>
      </dsp:txBody>
      <dsp:txXfrm rot="-5400000">
        <a:off x="2" y="2191703"/>
        <a:ext cx="1235951" cy="529694"/>
      </dsp:txXfrm>
    </dsp:sp>
    <dsp:sp modelId="{81D3DB6F-AD77-47BF-9570-D1EDA4BEA835}">
      <dsp:nvSpPr>
        <dsp:cNvPr id="0" name=""/>
        <dsp:cNvSpPr/>
      </dsp:nvSpPr>
      <dsp:spPr>
        <a:xfrm rot="5400000">
          <a:off x="3727782" y="-918103"/>
          <a:ext cx="1147669" cy="613133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>
              <a:latin typeface="Arial" panose="020B0604020202020204" pitchFamily="34" charset="0"/>
              <a:cs typeface="Arial" panose="020B0604020202020204" pitchFamily="34" charset="0"/>
            </a:rPr>
            <a:t>Производится автоматизированное открытие сохраненных ссылок, забирается текст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>
              <a:latin typeface="Arial" panose="020B0604020202020204" pitchFamily="34" charset="0"/>
              <a:cs typeface="Arial" panose="020B0604020202020204" pitchFamily="34" charset="0"/>
            </a:rPr>
            <a:t>Сохранение текстов в БД </a:t>
          </a:r>
          <a:r>
            <a:rPr lang="en-US" sz="1300" kern="1200" dirty="0">
              <a:latin typeface="Arial" panose="020B0604020202020204" pitchFamily="34" charset="0"/>
              <a:cs typeface="Arial" panose="020B0604020202020204" pitchFamily="34" charset="0"/>
            </a:rPr>
            <a:t>PostgreSQL</a:t>
          </a:r>
          <a:endParaRPr lang="ru-RU" sz="13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1235952" y="1629752"/>
        <a:ext cx="6075305" cy="1035619"/>
      </dsp:txXfrm>
    </dsp:sp>
    <dsp:sp modelId="{DF41A69C-B578-4D21-96A8-635488F691B8}">
      <dsp:nvSpPr>
        <dsp:cNvPr id="0" name=""/>
        <dsp:cNvSpPr/>
      </dsp:nvSpPr>
      <dsp:spPr>
        <a:xfrm rot="5400000">
          <a:off x="-264846" y="3411709"/>
          <a:ext cx="1765645" cy="1235951"/>
        </a:xfrm>
        <a:prstGeom prst="chevron">
          <a:avLst/>
        </a:prstGeom>
        <a:solidFill>
          <a:srgbClr val="234A9B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556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50" b="1" kern="1200" dirty="0">
              <a:latin typeface="Arial" panose="020B0604020202020204" pitchFamily="34" charset="0"/>
              <a:cs typeface="Arial" panose="020B0604020202020204" pitchFamily="34" charset="0"/>
            </a:rPr>
            <a:t>Автоматизация</a:t>
          </a:r>
        </a:p>
        <a:p>
          <a:pPr marL="0" lvl="0" indent="0" algn="ctr" defTabSz="5556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50" b="1" kern="1200" dirty="0">
              <a:latin typeface="Arial" panose="020B0604020202020204" pitchFamily="34" charset="0"/>
              <a:cs typeface="Arial" panose="020B0604020202020204" pitchFamily="34" charset="0"/>
            </a:rPr>
            <a:t>парсинга</a:t>
          </a:r>
        </a:p>
      </dsp:txBody>
      <dsp:txXfrm rot="-5400000">
        <a:off x="2" y="3764838"/>
        <a:ext cx="1235951" cy="529694"/>
      </dsp:txXfrm>
    </dsp:sp>
    <dsp:sp modelId="{5752C7E0-28BF-489C-99A7-41109DB8CA7E}">
      <dsp:nvSpPr>
        <dsp:cNvPr id="0" name=""/>
        <dsp:cNvSpPr/>
      </dsp:nvSpPr>
      <dsp:spPr>
        <a:xfrm rot="5400000">
          <a:off x="3727782" y="655032"/>
          <a:ext cx="1147669" cy="613133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>
              <a:latin typeface="Arial" panose="020B0604020202020204" pitchFamily="34" charset="0"/>
              <a:cs typeface="Arial" panose="020B0604020202020204" pitchFamily="34" charset="0"/>
            </a:rPr>
            <a:t>С помощью</a:t>
          </a:r>
          <a:r>
            <a:rPr lang="en-US" sz="1300" kern="1200" dirty="0">
              <a:latin typeface="Arial" panose="020B0604020202020204" pitchFamily="34" charset="0"/>
              <a:cs typeface="Arial" panose="020B0604020202020204" pitchFamily="34" charset="0"/>
            </a:rPr>
            <a:t> Apache Airflow</a:t>
          </a:r>
          <a:r>
            <a:rPr lang="ru-RU" sz="1300" kern="1200" dirty="0">
              <a:latin typeface="Arial" panose="020B0604020202020204" pitchFamily="34" charset="0"/>
              <a:cs typeface="Arial" panose="020B0604020202020204" pitchFamily="34" charset="0"/>
            </a:rPr>
            <a:t> производится автоматический запуск парсинга ссылок и текстов для вакансий и резюме</a:t>
          </a:r>
          <a:r>
            <a:rPr lang="en-US" sz="13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ru-RU" sz="13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latin typeface="Arial" panose="020B0604020202020204" pitchFamily="34" charset="0"/>
              <a:cs typeface="Arial" panose="020B0604020202020204" pitchFamily="34" charset="0"/>
            </a:rPr>
            <a:t>DAG’</a:t>
          </a:r>
          <a:r>
            <a:rPr lang="ru-RU" sz="1300" kern="1200" dirty="0">
              <a:latin typeface="Arial" panose="020B0604020202020204" pitchFamily="34" charset="0"/>
              <a:cs typeface="Arial" panose="020B0604020202020204" pitchFamily="34" charset="0"/>
            </a:rPr>
            <a:t>и поставлены на расписание, продолжительность цикла – 2 часа</a:t>
          </a:r>
        </a:p>
      </dsp:txBody>
      <dsp:txXfrm rot="-5400000">
        <a:off x="1235952" y="3202888"/>
        <a:ext cx="6075305" cy="103561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F938FB-B2F7-4732-8A8B-F135ECFE50EB}">
      <dsp:nvSpPr>
        <dsp:cNvPr id="0" name=""/>
        <dsp:cNvSpPr/>
      </dsp:nvSpPr>
      <dsp:spPr>
        <a:xfrm>
          <a:off x="6857" y="1811630"/>
          <a:ext cx="1547345" cy="907987"/>
        </a:xfrm>
        <a:prstGeom prst="roundRect">
          <a:avLst>
            <a:gd name="adj" fmla="val 10000"/>
          </a:avLst>
        </a:prstGeom>
        <a:solidFill>
          <a:srgbClr val="234A9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1</a:t>
          </a:r>
          <a:r>
            <a:rPr lang="ru-RU" sz="1200" kern="1200" dirty="0"/>
            <a:t>. Получение сырых данных </a:t>
          </a:r>
          <a:r>
            <a:rPr lang="ru-RU" sz="1200" kern="1200" dirty="0">
              <a:latin typeface="Arial" panose="020B0604020202020204" pitchFamily="34" charset="0"/>
              <a:cs typeface="Arial" panose="020B0604020202020204" pitchFamily="34" charset="0"/>
            </a:rPr>
            <a:t>из</a:t>
          </a:r>
          <a:r>
            <a:rPr lang="ru-RU" sz="1200" kern="1200" dirty="0"/>
            <a:t> БД</a:t>
          </a:r>
        </a:p>
      </dsp:txBody>
      <dsp:txXfrm>
        <a:off x="6857" y="1811630"/>
        <a:ext cx="1547345" cy="605324"/>
      </dsp:txXfrm>
    </dsp:sp>
    <dsp:sp modelId="{E79C2191-0E2E-43C1-A2B1-92FA947AC5E6}">
      <dsp:nvSpPr>
        <dsp:cNvPr id="0" name=""/>
        <dsp:cNvSpPr/>
      </dsp:nvSpPr>
      <dsp:spPr>
        <a:xfrm>
          <a:off x="323784" y="2416954"/>
          <a:ext cx="1547345" cy="14762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/>
            <a:t>Тексты резюме и вакансий из </a:t>
          </a:r>
          <a:r>
            <a:rPr lang="en-US" sz="1300" kern="1200" dirty="0"/>
            <a:t>HH.ru</a:t>
          </a:r>
          <a:r>
            <a:rPr lang="ru-RU" sz="1300" kern="1200" dirty="0"/>
            <a:t>: шапки и тела </a:t>
          </a:r>
          <a:r>
            <a:rPr lang="ru-RU" sz="1300" kern="1200" dirty="0">
              <a:latin typeface="Arial" panose="020B0604020202020204" pitchFamily="34" charset="0"/>
              <a:cs typeface="Arial" panose="020B0604020202020204" pitchFamily="34" charset="0"/>
            </a:rPr>
            <a:t>резюме</a:t>
          </a:r>
          <a:r>
            <a:rPr lang="ru-RU" sz="1300" kern="1200" dirty="0"/>
            <a:t> и вакансии</a:t>
          </a:r>
        </a:p>
      </dsp:txBody>
      <dsp:txXfrm>
        <a:off x="367021" y="2460191"/>
        <a:ext cx="1460871" cy="1389751"/>
      </dsp:txXfrm>
    </dsp:sp>
    <dsp:sp modelId="{50EF4CE1-862E-44BC-8399-7548D43B6626}">
      <dsp:nvSpPr>
        <dsp:cNvPr id="0" name=""/>
        <dsp:cNvSpPr/>
      </dsp:nvSpPr>
      <dsp:spPr>
        <a:xfrm>
          <a:off x="1788776" y="1921670"/>
          <a:ext cx="497292" cy="3852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000" kern="1200"/>
        </a:p>
      </dsp:txBody>
      <dsp:txXfrm>
        <a:off x="1788776" y="1998719"/>
        <a:ext cx="381719" cy="231146"/>
      </dsp:txXfrm>
    </dsp:sp>
    <dsp:sp modelId="{9C465E57-71A6-49A0-840F-F47E0FC17059}">
      <dsp:nvSpPr>
        <dsp:cNvPr id="0" name=""/>
        <dsp:cNvSpPr/>
      </dsp:nvSpPr>
      <dsp:spPr>
        <a:xfrm>
          <a:off x="2492492" y="1811630"/>
          <a:ext cx="1547345" cy="907987"/>
        </a:xfrm>
        <a:prstGeom prst="roundRect">
          <a:avLst>
            <a:gd name="adj" fmla="val 10000"/>
          </a:avLst>
        </a:prstGeom>
        <a:solidFill>
          <a:srgbClr val="234A9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>
              <a:latin typeface="Arial" panose="020B0604020202020204" pitchFamily="34" charset="0"/>
              <a:cs typeface="Arial" panose="020B0604020202020204" pitchFamily="34" charset="0"/>
            </a:rPr>
            <a:t>2. Извлечение атрибутов</a:t>
          </a:r>
        </a:p>
      </dsp:txBody>
      <dsp:txXfrm>
        <a:off x="2492492" y="1811630"/>
        <a:ext cx="1547345" cy="605324"/>
      </dsp:txXfrm>
    </dsp:sp>
    <dsp:sp modelId="{17A7F357-0CF5-4E67-8330-D1FAF189D8F9}">
      <dsp:nvSpPr>
        <dsp:cNvPr id="0" name=""/>
        <dsp:cNvSpPr/>
      </dsp:nvSpPr>
      <dsp:spPr>
        <a:xfrm>
          <a:off x="2809418" y="2416954"/>
          <a:ext cx="1547345" cy="14762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>
              <a:latin typeface="Arial" panose="020B0604020202020204" pitchFamily="34" charset="0"/>
              <a:cs typeface="Arial" panose="020B0604020202020204" pitchFamily="34" charset="0"/>
            </a:rPr>
            <a:t>Название позиции, опыт, зарплата, формат работы</a:t>
          </a:r>
          <a:r>
            <a:rPr lang="en-US" sz="1300" kern="1200" dirty="0">
              <a:latin typeface="Arial" panose="020B0604020202020204" pitchFamily="34" charset="0"/>
              <a:cs typeface="Arial" panose="020B0604020202020204" pitchFamily="34" charset="0"/>
            </a:rPr>
            <a:t>,</a:t>
          </a:r>
          <a:r>
            <a:rPr lang="ru-RU" sz="1300" kern="1200" dirty="0">
              <a:latin typeface="Arial" panose="020B0604020202020204" pitchFamily="34" charset="0"/>
              <a:cs typeface="Arial" panose="020B0604020202020204" pitchFamily="34" charset="0"/>
            </a:rPr>
            <a:t> специализация</a:t>
          </a:r>
        </a:p>
      </dsp:txBody>
      <dsp:txXfrm>
        <a:off x="2852655" y="2460191"/>
        <a:ext cx="1460871" cy="1389751"/>
      </dsp:txXfrm>
    </dsp:sp>
    <dsp:sp modelId="{695B6BC3-F93F-4CAD-B1B2-C642F7AECBB0}">
      <dsp:nvSpPr>
        <dsp:cNvPr id="0" name=""/>
        <dsp:cNvSpPr/>
      </dsp:nvSpPr>
      <dsp:spPr>
        <a:xfrm>
          <a:off x="4274410" y="1921670"/>
          <a:ext cx="497292" cy="3852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000" kern="1200"/>
        </a:p>
      </dsp:txBody>
      <dsp:txXfrm>
        <a:off x="4274410" y="1998719"/>
        <a:ext cx="381719" cy="231146"/>
      </dsp:txXfrm>
    </dsp:sp>
    <dsp:sp modelId="{82664240-7138-4299-9F3A-80E4EAE4C947}">
      <dsp:nvSpPr>
        <dsp:cNvPr id="0" name=""/>
        <dsp:cNvSpPr/>
      </dsp:nvSpPr>
      <dsp:spPr>
        <a:xfrm>
          <a:off x="4978126" y="1811630"/>
          <a:ext cx="1547345" cy="907987"/>
        </a:xfrm>
        <a:prstGeom prst="roundRect">
          <a:avLst>
            <a:gd name="adj" fmla="val 10000"/>
          </a:avLst>
        </a:prstGeom>
        <a:solidFill>
          <a:srgbClr val="234A9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>
              <a:latin typeface="Arial" panose="020B0604020202020204" pitchFamily="34" charset="0"/>
              <a:cs typeface="Arial" panose="020B0604020202020204" pitchFamily="34" charset="0"/>
            </a:rPr>
            <a:t>3. Очистка и нормализация текста</a:t>
          </a:r>
        </a:p>
      </dsp:txBody>
      <dsp:txXfrm>
        <a:off x="4978126" y="1811630"/>
        <a:ext cx="1547345" cy="605324"/>
      </dsp:txXfrm>
    </dsp:sp>
    <dsp:sp modelId="{5E4EBE69-03A3-48BF-9790-36FACF8FA769}">
      <dsp:nvSpPr>
        <dsp:cNvPr id="0" name=""/>
        <dsp:cNvSpPr/>
      </dsp:nvSpPr>
      <dsp:spPr>
        <a:xfrm>
          <a:off x="5295052" y="2416954"/>
          <a:ext cx="1547345" cy="14762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>
              <a:latin typeface="Arial" panose="020B0604020202020204" pitchFamily="34" charset="0"/>
              <a:cs typeface="Arial" panose="020B0604020202020204" pitchFamily="34" charset="0"/>
            </a:rPr>
            <a:t>Удаление шума и мусора (служебных блоков</a:t>
          </a:r>
          <a:r>
            <a:rPr lang="en-US" sz="1300" kern="1200" dirty="0">
              <a:latin typeface="Arial" panose="020B0604020202020204" pitchFamily="34" charset="0"/>
              <a:cs typeface="Arial" panose="020B0604020202020204" pitchFamily="34" charset="0"/>
            </a:rPr>
            <a:t> HH</a:t>
          </a:r>
          <a:r>
            <a:rPr lang="ru-RU" sz="1300" kern="1200" dirty="0">
              <a:latin typeface="Arial" panose="020B0604020202020204" pitchFamily="34" charset="0"/>
              <a:cs typeface="Arial" panose="020B0604020202020204" pitchFamily="34" charset="0"/>
            </a:rPr>
            <a:t>)</a:t>
          </a:r>
          <a:r>
            <a:rPr lang="en-US" sz="1300" kern="1200" dirty="0">
              <a:latin typeface="Arial" panose="020B0604020202020204" pitchFamily="34" charset="0"/>
              <a:cs typeface="Arial" panose="020B0604020202020204" pitchFamily="34" charset="0"/>
            </a:rPr>
            <a:t>,  </a:t>
          </a:r>
          <a:r>
            <a:rPr lang="ru-RU" sz="1300" kern="1200" dirty="0">
              <a:latin typeface="Arial" panose="020B0604020202020204" pitchFamily="34" charset="0"/>
              <a:cs typeface="Arial" panose="020B0604020202020204" pitchFamily="34" charset="0"/>
            </a:rPr>
            <a:t>нормализация текста</a:t>
          </a:r>
        </a:p>
      </dsp:txBody>
      <dsp:txXfrm>
        <a:off x="5338289" y="2460191"/>
        <a:ext cx="1460871" cy="1389751"/>
      </dsp:txXfrm>
    </dsp:sp>
    <dsp:sp modelId="{BB7CE08A-BFA3-4D35-A1CB-E7FFF017E6F6}">
      <dsp:nvSpPr>
        <dsp:cNvPr id="0" name=""/>
        <dsp:cNvSpPr/>
      </dsp:nvSpPr>
      <dsp:spPr>
        <a:xfrm>
          <a:off x="6760044" y="1921670"/>
          <a:ext cx="497292" cy="3852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000" kern="1200"/>
        </a:p>
      </dsp:txBody>
      <dsp:txXfrm>
        <a:off x="6760044" y="1998719"/>
        <a:ext cx="381719" cy="231146"/>
      </dsp:txXfrm>
    </dsp:sp>
    <dsp:sp modelId="{144F99D2-507F-4831-90BA-F8B138217D3B}">
      <dsp:nvSpPr>
        <dsp:cNvPr id="0" name=""/>
        <dsp:cNvSpPr/>
      </dsp:nvSpPr>
      <dsp:spPr>
        <a:xfrm>
          <a:off x="7463760" y="1811630"/>
          <a:ext cx="1547345" cy="907987"/>
        </a:xfrm>
        <a:prstGeom prst="roundRect">
          <a:avLst>
            <a:gd name="adj" fmla="val 10000"/>
          </a:avLst>
        </a:prstGeom>
        <a:solidFill>
          <a:srgbClr val="234A9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>
              <a:latin typeface="Arial" panose="020B0604020202020204" pitchFamily="34" charset="0"/>
              <a:cs typeface="Arial" panose="020B0604020202020204" pitchFamily="34" charset="0"/>
            </a:rPr>
            <a:t>4. Заполнение признака «Навыки»</a:t>
          </a:r>
        </a:p>
      </dsp:txBody>
      <dsp:txXfrm>
        <a:off x="7463760" y="1811630"/>
        <a:ext cx="1547345" cy="605324"/>
      </dsp:txXfrm>
    </dsp:sp>
    <dsp:sp modelId="{874005E5-23D5-4994-93D4-99150DE30118}">
      <dsp:nvSpPr>
        <dsp:cNvPr id="0" name=""/>
        <dsp:cNvSpPr/>
      </dsp:nvSpPr>
      <dsp:spPr>
        <a:xfrm>
          <a:off x="7780686" y="2416954"/>
          <a:ext cx="1547345" cy="14762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solidFill>
                <a:srgbClr val="556073"/>
              </a:solidFill>
              <a:latin typeface="Arial" panose="020B0604020202020204" pitchFamily="34" charset="0"/>
              <a:cs typeface="Arial" panose="020B0604020202020204" pitchFamily="34" charset="0"/>
            </a:rPr>
            <a:t>Regex</a:t>
          </a:r>
          <a:r>
            <a:rPr lang="ru-RU" sz="1300" kern="1200" dirty="0">
              <a:solidFill>
                <a:srgbClr val="556073"/>
              </a:solidFill>
              <a:latin typeface="Arial" panose="020B0604020202020204" pitchFamily="34" charset="0"/>
              <a:cs typeface="Arial" panose="020B0604020202020204" pitchFamily="34" charset="0"/>
            </a:rPr>
            <a:t> (при наличии блока в карточке) + </a:t>
          </a:r>
          <a:r>
            <a:rPr lang="en-US" sz="1300" kern="1200" dirty="0">
              <a:solidFill>
                <a:srgbClr val="556073"/>
              </a:solidFill>
              <a:latin typeface="Arial" panose="020B0604020202020204" pitchFamily="34" charset="0"/>
              <a:cs typeface="Arial" panose="020B0604020202020204" pitchFamily="34" charset="0"/>
            </a:rPr>
            <a:t>LLM Qwen2.5</a:t>
          </a:r>
          <a:r>
            <a:rPr lang="ru-RU" sz="1300" kern="1200" dirty="0">
              <a:solidFill>
                <a:srgbClr val="556073"/>
              </a:solidFill>
              <a:latin typeface="Arial" panose="020B0604020202020204" pitchFamily="34" charset="0"/>
              <a:cs typeface="Arial" panose="020B0604020202020204" pitchFamily="34" charset="0"/>
            </a:rPr>
            <a:t> (при отсутствии)</a:t>
          </a:r>
          <a:endParaRPr lang="ru-RU" sz="13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823923" y="2460191"/>
        <a:ext cx="1460871" cy="1389751"/>
      </dsp:txXfrm>
    </dsp:sp>
    <dsp:sp modelId="{336D02B7-8998-4B96-B64B-66148B46A7E3}">
      <dsp:nvSpPr>
        <dsp:cNvPr id="0" name=""/>
        <dsp:cNvSpPr/>
      </dsp:nvSpPr>
      <dsp:spPr>
        <a:xfrm>
          <a:off x="9245678" y="1921670"/>
          <a:ext cx="497292" cy="3852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000" kern="1200"/>
        </a:p>
      </dsp:txBody>
      <dsp:txXfrm>
        <a:off x="9245678" y="1998719"/>
        <a:ext cx="381719" cy="231146"/>
      </dsp:txXfrm>
    </dsp:sp>
    <dsp:sp modelId="{1E2AAEB3-AEDF-4024-A1D8-3422086419F6}">
      <dsp:nvSpPr>
        <dsp:cNvPr id="0" name=""/>
        <dsp:cNvSpPr/>
      </dsp:nvSpPr>
      <dsp:spPr>
        <a:xfrm>
          <a:off x="9949394" y="1811630"/>
          <a:ext cx="1547345" cy="907987"/>
        </a:xfrm>
        <a:prstGeom prst="roundRect">
          <a:avLst>
            <a:gd name="adj" fmla="val 10000"/>
          </a:avLst>
        </a:prstGeom>
        <a:solidFill>
          <a:srgbClr val="234A9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>
              <a:latin typeface="Arial" panose="020B0604020202020204" pitchFamily="34" charset="0"/>
              <a:cs typeface="Arial" panose="020B0604020202020204" pitchFamily="34" charset="0"/>
            </a:rPr>
            <a:t>5. Фильтрация релевантных резюме и вакансий</a:t>
          </a:r>
        </a:p>
      </dsp:txBody>
      <dsp:txXfrm>
        <a:off x="9949394" y="1811630"/>
        <a:ext cx="1547345" cy="605324"/>
      </dsp:txXfrm>
    </dsp:sp>
    <dsp:sp modelId="{6EED9631-916A-4F90-A0C5-433C5BD53679}">
      <dsp:nvSpPr>
        <dsp:cNvPr id="0" name=""/>
        <dsp:cNvSpPr/>
      </dsp:nvSpPr>
      <dsp:spPr>
        <a:xfrm>
          <a:off x="10273179" y="2409573"/>
          <a:ext cx="1547345" cy="14762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>
              <a:latin typeface="Arial" panose="020B0604020202020204" pitchFamily="34" charset="0"/>
              <a:cs typeface="Arial" panose="020B0604020202020204" pitchFamily="34" charset="0"/>
            </a:rPr>
            <a:t>Фильтрация производится также с помощью </a:t>
          </a:r>
          <a:r>
            <a:rPr lang="en-US" sz="1300" kern="1200" dirty="0">
              <a:latin typeface="Arial" panose="020B0604020202020204" pitchFamily="34" charset="0"/>
              <a:cs typeface="Arial" panose="020B0604020202020204" pitchFamily="34" charset="0"/>
            </a:rPr>
            <a:t>Regex </a:t>
          </a:r>
          <a:r>
            <a:rPr lang="ru-RU" sz="1300" kern="1200" dirty="0">
              <a:latin typeface="Arial" panose="020B0604020202020204" pitchFamily="34" charset="0"/>
              <a:cs typeface="Arial" panose="020B0604020202020204" pitchFamily="34" charset="0"/>
            </a:rPr>
            <a:t>по справочнику профессий</a:t>
          </a:r>
        </a:p>
      </dsp:txBody>
      <dsp:txXfrm>
        <a:off x="10316416" y="2452810"/>
        <a:ext cx="1460871" cy="138975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DC0BF6-FC53-4149-909F-055CB24F453F}">
      <dsp:nvSpPr>
        <dsp:cNvPr id="0" name=""/>
        <dsp:cNvSpPr/>
      </dsp:nvSpPr>
      <dsp:spPr>
        <a:xfrm>
          <a:off x="1021176" y="483"/>
          <a:ext cx="1899520" cy="1139712"/>
        </a:xfrm>
        <a:prstGeom prst="rect">
          <a:avLst/>
        </a:prstGeom>
        <a:solidFill>
          <a:srgbClr val="234A9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kern="1200" dirty="0">
              <a:latin typeface="Arial" panose="020B0604020202020204" pitchFamily="34" charset="0"/>
              <a:cs typeface="Arial" panose="020B0604020202020204" pitchFamily="34" charset="0"/>
            </a:rPr>
            <a:t>Совпадение по навыкам </a:t>
          </a:r>
          <a:r>
            <a:rPr lang="en-US" sz="1300" kern="1200" dirty="0" err="1">
              <a:latin typeface="Arial" panose="020B0604020202020204" pitchFamily="34" charset="0"/>
              <a:cs typeface="Arial" panose="020B0604020202020204" pitchFamily="34" charset="0"/>
            </a:rPr>
            <a:t>skill_score</a:t>
          </a:r>
          <a:endParaRPr lang="ru-RU" sz="13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021176" y="483"/>
        <a:ext cx="1899520" cy="1139712"/>
      </dsp:txXfrm>
    </dsp:sp>
    <dsp:sp modelId="{21A6F94C-7927-49CA-AACB-47C3E1467EEF}">
      <dsp:nvSpPr>
        <dsp:cNvPr id="0" name=""/>
        <dsp:cNvSpPr/>
      </dsp:nvSpPr>
      <dsp:spPr>
        <a:xfrm>
          <a:off x="3110648" y="483"/>
          <a:ext cx="1899520" cy="1139712"/>
        </a:xfrm>
        <a:prstGeom prst="rect">
          <a:avLst/>
        </a:prstGeom>
        <a:solidFill>
          <a:srgbClr val="234A9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kern="1200" dirty="0">
              <a:latin typeface="Arial" panose="020B0604020202020204" pitchFamily="34" charset="0"/>
              <a:cs typeface="Arial" panose="020B0604020202020204" pitchFamily="34" charset="0"/>
            </a:rPr>
            <a:t>Соответствие по опыту </a:t>
          </a:r>
          <a:r>
            <a:rPr lang="en-US" sz="1300" kern="1200" dirty="0" err="1">
              <a:latin typeface="Arial" panose="020B0604020202020204" pitchFamily="34" charset="0"/>
              <a:cs typeface="Arial" panose="020B0604020202020204" pitchFamily="34" charset="0"/>
            </a:rPr>
            <a:t>exp_score</a:t>
          </a:r>
          <a:endParaRPr lang="ru-RU" sz="13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110648" y="483"/>
        <a:ext cx="1899520" cy="1139712"/>
      </dsp:txXfrm>
    </dsp:sp>
    <dsp:sp modelId="{1E617EA9-EBD1-437F-B3C0-508EBC757353}">
      <dsp:nvSpPr>
        <dsp:cNvPr id="0" name=""/>
        <dsp:cNvSpPr/>
      </dsp:nvSpPr>
      <dsp:spPr>
        <a:xfrm>
          <a:off x="2065912" y="1330147"/>
          <a:ext cx="1899520" cy="1139712"/>
        </a:xfrm>
        <a:prstGeom prst="rect">
          <a:avLst/>
        </a:prstGeom>
        <a:solidFill>
          <a:srgbClr val="234A9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kern="1200" dirty="0">
              <a:latin typeface="Arial" panose="020B0604020202020204" pitchFamily="34" charset="0"/>
              <a:cs typeface="Arial" panose="020B0604020202020204" pitchFamily="34" charset="0"/>
            </a:rPr>
            <a:t>Расчет </a:t>
          </a:r>
          <a:r>
            <a:rPr lang="en-US" sz="1300" kern="1200" dirty="0" err="1">
              <a:latin typeface="Arial" panose="020B0604020202020204" pitchFamily="34" charset="0"/>
              <a:cs typeface="Arial" panose="020B0604020202020204" pitchFamily="34" charset="0"/>
            </a:rPr>
            <a:t>final_score</a:t>
          </a:r>
          <a:endParaRPr lang="ru-RU" sz="13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065912" y="1330147"/>
        <a:ext cx="1899520" cy="11397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en-RU" smtClean="0"/>
              <a:t>05/04/2026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cxnSp>
        <p:nvCxnSpPr>
          <p:cNvPr id="11" name="Straight Connector 48">
            <a:extLst>
              <a:ext uri="{FF2B5EF4-FFF2-40B4-BE49-F238E27FC236}">
                <a16:creationId xmlns:a16="http://schemas.microsoft.com/office/drawing/2014/main" id="{313EF906-5BAC-0141-A198-076E155DF9E2}"/>
              </a:ext>
            </a:extLst>
          </p:cNvPr>
          <p:cNvCxnSpPr>
            <a:cxnSpLocks/>
          </p:cNvCxnSpPr>
          <p:nvPr userDrawn="1"/>
        </p:nvCxnSpPr>
        <p:spPr>
          <a:xfrm>
            <a:off x="6090212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0">
            <a:extLst>
              <a:ext uri="{FF2B5EF4-FFF2-40B4-BE49-F238E27FC236}">
                <a16:creationId xmlns:a16="http://schemas.microsoft.com/office/drawing/2014/main" id="{61206A97-26F2-E646-8775-9928FEF465B5}"/>
              </a:ext>
            </a:extLst>
          </p:cNvPr>
          <p:cNvCxnSpPr>
            <a:cxnSpLocks/>
          </p:cNvCxnSpPr>
          <p:nvPr userDrawn="1"/>
        </p:nvCxnSpPr>
        <p:spPr>
          <a:xfrm>
            <a:off x="8642581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1">
            <a:extLst>
              <a:ext uri="{FF2B5EF4-FFF2-40B4-BE49-F238E27FC236}">
                <a16:creationId xmlns:a16="http://schemas.microsoft.com/office/drawing/2014/main" id="{28E0E5F6-C1CA-9B41-B1DB-6E4FB509084D}"/>
              </a:ext>
            </a:extLst>
          </p:cNvPr>
          <p:cNvCxnSpPr>
            <a:cxnSpLocks/>
          </p:cNvCxnSpPr>
          <p:nvPr userDrawn="1"/>
        </p:nvCxnSpPr>
        <p:spPr>
          <a:xfrm>
            <a:off x="11179047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GB" sz="4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4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</a:t>
            </a:r>
            <a:r>
              <a:rPr lang="en-GB" dirty="0" err="1">
                <a:latin typeface="HSE Sans" panose="02000000000000000000" pitchFamily="2" charset="0"/>
              </a:rPr>
              <a:t>pt</a:t>
            </a:r>
            <a:r>
              <a:rPr lang="en-GB" dirty="0">
                <a:latin typeface="HSE Sans" panose="02000000000000000000" pitchFamily="2" charset="0"/>
              </a:rPr>
              <a:t>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786720" y="1173829"/>
            <a:ext cx="2217738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Москва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2022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</a:t>
            </a:r>
            <a:r>
              <a:rPr lang="en-GB" sz="1600" dirty="0">
                <a:latin typeface="HSE Sans" panose="02000000000000000000" pitchFamily="2" charset="0"/>
              </a:rPr>
              <a:t> (16 </a:t>
            </a:r>
            <a:r>
              <a:rPr lang="en-GB" sz="1600" dirty="0" err="1">
                <a:latin typeface="HSE Sans" panose="02000000000000000000" pitchFamily="2" charset="0"/>
              </a:rPr>
              <a:t>pt</a:t>
            </a:r>
            <a:r>
              <a:rPr lang="en-GB" sz="1600" dirty="0">
                <a:latin typeface="HSE Sans" panose="02000000000000000000" pitchFamily="2" charset="0"/>
              </a:rPr>
              <a:t>)</a:t>
            </a:r>
            <a:endParaRPr lang="ru-RU" sz="16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895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11" name="Straight Connector 19">
            <a:extLst>
              <a:ext uri="{FF2B5EF4-FFF2-40B4-BE49-F238E27FC236}">
                <a16:creationId xmlns:a16="http://schemas.microsoft.com/office/drawing/2014/main" id="{067DD2ED-246D-7D41-B51F-FED98BF873F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1">
            <a:extLst>
              <a:ext uri="{FF2B5EF4-FFF2-40B4-BE49-F238E27FC236}">
                <a16:creationId xmlns:a16="http://schemas.microsoft.com/office/drawing/2014/main" id="{68E8C250-D449-A743-8975-B5BFB04D9744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5">
            <a:extLst>
              <a:ext uri="{FF2B5EF4-FFF2-40B4-BE49-F238E27FC236}">
                <a16:creationId xmlns:a16="http://schemas.microsoft.com/office/drawing/2014/main" id="{DD1C71CA-B883-AF42-959D-BCA5690AAA4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9" name="Straight Connector 59">
            <a:extLst>
              <a:ext uri="{FF2B5EF4-FFF2-40B4-BE49-F238E27FC236}">
                <a16:creationId xmlns:a16="http://schemas.microsoft.com/office/drawing/2014/main" id="{3447008E-4F3B-FC4E-B96D-3927FAE1ED1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  <a:endParaRPr lang="en-RU" sz="2800">
              <a:solidFill>
                <a:schemeClr val="tx1"/>
              </a:solidFill>
              <a:latin typeface="HSE Sans" panose="02000000000000000000" pitchFamily="2" charset="0"/>
            </a:endParaRP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287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FDC66DB8-29BC-5940-A721-40F1002145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DE27C859-478F-3648-8A9D-2C85DBDCAC0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58EA1144-CFD8-1D47-B430-7014F576043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96EDC73C-5A3C-014E-8E52-04CAFCA9B20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5E88681-53A8-3B45-B80A-372EDFB53883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EDA7D8BF-DF37-704F-B77F-7E40752ACE25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5026DBD8-54A3-1446-9D3B-BA2B38460F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E8AA3569-5054-7D47-AB14-BCFB0440D0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Заголовок 31">
            <a:extLst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66FAD63B-F743-0F47-BBE3-D77317667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11057971" cy="3745092"/>
          </a:xfrm>
        </p:spPr>
        <p:txBody>
          <a:bodyPr lIns="0" tIns="0" rIns="0" numCol="3" spcCol="252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300" dirty="0">
                <a:latin typeface="HSE Sans" panose="02000000000000000000" pitchFamily="2" charset="0"/>
              </a:rPr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A048480-30C9-044E-8C2E-0F67398FEE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18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0E78CA68-7A0C-CF41-9AC6-A547FB9EC3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45DC512A-A23B-B24D-A1F6-6793976867CF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21F91649-DF0F-5F45-A43B-2CED9ACDD04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3137B760-1A50-1845-B7F2-1EF31C71C72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5ECCF8F-5855-7943-B503-5573887A534D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FB81B23D-CDD8-E64C-9887-3540F7EE1C4B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C2D710AE-3CBE-5940-A7EB-F96132E659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FCC5A33D-0A3C-F140-B745-367744A5F3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  <a:p>
            <a:pPr lvl="0"/>
            <a:endParaRPr lang="ru-RU" dirty="0"/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3BE4279A-8109-B244-B721-18F10C696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795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E89D752-CAC6-0943-9A3D-4C52DBF50C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64D89E64-93BB-044D-B3D4-8F2679C5CA4C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D0C3B169-866D-C645-AF76-00F8C2A97E9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FDDF48AB-D8AE-0E42-A544-8EA5B8744778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6DF89EC-1E7C-3B40-85F4-6D19A7D29AC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019D6862-BD52-734D-9E19-38C147CA2D2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A9BD5ADD-B3F2-C342-82F7-83683F040D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4F15CBC0-FC8B-744E-95A7-C9863CDC31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BC3B54AA-A0BD-E646-B3B7-C0E724D26D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113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11D7C3EB-CCEB-E142-9753-8B2D75A0A8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527C9F89-51CC-D243-9351-73AB081DB944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F09EE119-6C80-E846-95F9-BB3907664128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C0A681B-44BF-6A46-98D8-483EF13B9114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5A5D7C-EB12-9D4D-A99A-4B26C81B738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D4C3D74D-BE91-9547-ADCA-ACCE93C1878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3E0AB43B-5E98-6042-A282-C61E0C5A37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7388A8DF-D130-5445-A3F8-F96E1202BA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02CBC466-1703-7541-94E4-AC76F4E6D9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8" y="1447064"/>
            <a:ext cx="4322762" cy="703205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графика. Обратите внимание, что название графика набирается меньшим кеглем, чем заголовок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 (16pt)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8" name="Текст 35">
            <a:extLst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88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Icon&#10;&#10;Description automatically generated">
            <a:extLst>
              <a:ext uri="{FF2B5EF4-FFF2-40B4-BE49-F238E27FC236}">
                <a16:creationId xmlns:a16="http://schemas.microsoft.com/office/drawing/2014/main" id="{E9A64721-E55E-8749-B29E-51DD895593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7" name="Straight Connector 19">
            <a:extLst>
              <a:ext uri="{FF2B5EF4-FFF2-40B4-BE49-F238E27FC236}">
                <a16:creationId xmlns:a16="http://schemas.microsoft.com/office/drawing/2014/main" id="{B0C162B7-B84F-874A-960E-31F512518C6E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1">
            <a:extLst>
              <a:ext uri="{FF2B5EF4-FFF2-40B4-BE49-F238E27FC236}">
                <a16:creationId xmlns:a16="http://schemas.microsoft.com/office/drawing/2014/main" id="{1CB321BB-9FE3-294F-85D8-AA7DC75CA4AF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5">
            <a:extLst>
              <a:ext uri="{FF2B5EF4-FFF2-40B4-BE49-F238E27FC236}">
                <a16:creationId xmlns:a16="http://schemas.microsoft.com/office/drawing/2014/main" id="{0A610A45-8712-8A45-AFB3-931CF468EC3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460EF6-ECAD-8941-8132-1B3E005D606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1" name="Straight Connector 59">
            <a:extLst>
              <a:ext uri="{FF2B5EF4-FFF2-40B4-BE49-F238E27FC236}">
                <a16:creationId xmlns:a16="http://schemas.microsoft.com/office/drawing/2014/main" id="{41AE56A2-5FAA-FD44-AE1A-338E1E304184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 37">
            <a:extLst>
              <a:ext uri="{FF2B5EF4-FFF2-40B4-BE49-F238E27FC236}">
                <a16:creationId xmlns:a16="http://schemas.microsoft.com/office/drawing/2014/main" id="{D9986185-6D5E-FD48-A5CA-AF2D5B58A3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5DBFD327-E3A8-944A-AABF-7D813AD0F1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D206FCE0-05C3-2C45-A7D6-1FC287C017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Текст 35">
            <a:extLst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076" y="4103994"/>
            <a:ext cx="2758143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5" name="Текст 35">
            <a:extLst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47007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6" name="Текст 35">
            <a:extLst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18938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076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152</a:t>
            </a:r>
            <a:endParaRPr lang="ru-RU" dirty="0"/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47007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95</a:t>
            </a:r>
            <a:endParaRPr lang="ru-RU" dirty="0"/>
          </a:p>
        </p:txBody>
      </p:sp>
      <p:sp>
        <p:nvSpPr>
          <p:cNvPr id="30" name="Текст 27">
            <a:extLst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18938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284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705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C5425806-16DD-844E-927C-26E7143A9E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479746FF-3282-DF46-9D7C-D80431604A55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21">
            <a:extLst>
              <a:ext uri="{FF2B5EF4-FFF2-40B4-BE49-F238E27FC236}">
                <a16:creationId xmlns:a16="http://schemas.microsoft.com/office/drawing/2014/main" id="{51B44297-B0E7-D74D-B291-D39A0D468B42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5">
            <a:extLst>
              <a:ext uri="{FF2B5EF4-FFF2-40B4-BE49-F238E27FC236}">
                <a16:creationId xmlns:a16="http://schemas.microsoft.com/office/drawing/2014/main" id="{0EA4A057-F0CB-E04F-B472-4A1ABFB64C66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64502F5-56EE-354B-A3B1-E79F8B00517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0" name="Straight Connector 59">
            <a:extLst>
              <a:ext uri="{FF2B5EF4-FFF2-40B4-BE49-F238E27FC236}">
                <a16:creationId xmlns:a16="http://schemas.microsoft.com/office/drawing/2014/main" id="{A80E0956-5C10-CC40-A426-CBD2E0C4158E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7">
            <a:extLst>
              <a:ext uri="{FF2B5EF4-FFF2-40B4-BE49-F238E27FC236}">
                <a16:creationId xmlns:a16="http://schemas.microsoft.com/office/drawing/2014/main" id="{6EC59AAD-5962-8D49-BF4D-7DA5D57307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49041ACC-EEF4-D34B-A7DE-87B1AF2ED3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BF93B2CC-81A4-0943-AF6C-C865767929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22">
            <a:extLst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5"/>
            <a:ext cx="11058065" cy="30777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19" name="Таблица 18">
            <a:extLst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1984076"/>
            <a:ext cx="11058527" cy="3519576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16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259ABC72-D738-1143-BF2A-D85AE9A4F7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237A1E42-2FC3-8841-8C41-992C5BC2368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47503EA0-3883-E24D-9EB8-7B617518292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E0144DF2-9891-324D-B34E-AFA025FBCBF9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33F65D6-1072-F140-B6A5-758D7B595A9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5F1F09D4-22FA-7B4B-9488-F8FDDCC2D44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44D0326E-FD7A-3541-A998-62A1C30E2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279CCCA0-F959-5245-8321-106D3C5E83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8B839C6B-8494-8841-9714-4C8F710F84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8" name="Текст 22">
            <a:extLst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4"/>
            <a:ext cx="7617877" cy="53701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20" name="Таблица 18">
            <a:extLst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2208362"/>
            <a:ext cx="7617895" cy="3295290"/>
          </a:xfrm>
        </p:spPr>
        <p:txBody>
          <a:bodyPr/>
          <a:lstStyle/>
          <a:p>
            <a:endParaRPr lang="ru-RU"/>
          </a:p>
        </p:txBody>
      </p:sp>
      <p:sp>
        <p:nvSpPr>
          <p:cNvPr id="21" name="Текст 35">
            <a:extLst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6807" y="2208363"/>
            <a:ext cx="2930666" cy="2570672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77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86CF47C6-D972-9E44-A717-6848F348939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412FEF63-77C0-7C4A-B9BE-4BC0EEEEB78C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C4F550E9-E979-284D-B65F-44E092DD9D0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39D099-B515-F343-BF7A-A95468DA3860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396B1F99-9711-C64F-A7C9-4F1D89E7F11D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9C21DFE9-C3B2-C54E-9275-7776355F7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5A73F99D-6D58-724E-ADB3-150D9B24F8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7E89E360-BE39-5041-BAD6-C7B708340A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A7FA04E4-3213-8F41-B068-4DC2814414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938052A0-3DF0-DC47-B7E0-C20EF981C230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8C6147F0-3CA1-264C-B2B2-F88597196943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2CDF50E-4D58-AF4A-ABFD-140AF88B3681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2171D1-2A5B-7A4A-9760-17CCE51B980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3C71A0C3-CD3E-0748-98E5-6B2507CAB296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9856D01B-EC9A-6047-B7FB-D47084AB3F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83E23342-AC91-354A-9A28-A14FF7BADC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BB1CCE68-8F57-1A41-BC43-633D2EFC80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20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234703-C735-5D41-99C2-019C7EBECCF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2F59B5-E815-AE43-BAE2-FA594BB42C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310809" y="2643809"/>
            <a:ext cx="1570383" cy="157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64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3F8FDE-7383-E947-8568-FF6B7A776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E6541-45CA-8B42-98B4-D42737B85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0645B-C5D9-8544-BBF2-E4A13F8E4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63DFB-8595-A44B-9F09-A50FA310E559}" type="datetimeFigureOut">
              <a:rPr lang="en-RU" smtClean="0"/>
              <a:t>05/04/2026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52289-7F57-544F-95EE-F8B2E1062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C5F56-F795-5643-ABE3-DDED218698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78506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0" r:id="rId4"/>
    <p:sldLayoutId id="2147483651" r:id="rId5"/>
    <p:sldLayoutId id="2147483652" r:id="rId6"/>
    <p:sldLayoutId id="2147483654" r:id="rId7"/>
    <p:sldLayoutId id="2147483655" r:id="rId8"/>
    <p:sldLayoutId id="2147483656" r:id="rId9"/>
    <p:sldLayoutId id="2147483658" r:id="rId10"/>
    <p:sldLayoutId id="2147483657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10.svg"/><Relationship Id="rId5" Type="http://schemas.openxmlformats.org/officeDocument/2006/relationships/diagramColors" Target="../diagrams/colors1.xml"/><Relationship Id="rId10" Type="http://schemas.openxmlformats.org/officeDocument/2006/relationships/image" Target="../media/image9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irillTretyakov/thesi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1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14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95C0D-D7DC-EF40-9E45-F5F0A4817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8225" y="2020622"/>
            <a:ext cx="9716233" cy="1978323"/>
          </a:xfrm>
        </p:spPr>
        <p:txBody>
          <a:bodyPr>
            <a:normAutofit/>
          </a:bodyPr>
          <a:lstStyle/>
          <a:p>
            <a:pPr algn="ctr"/>
            <a:r>
              <a:rPr lang="ru-RU" sz="3200" cap="small" dirty="0">
                <a:latin typeface="Arial" panose="020B0604020202020204" pitchFamily="34" charset="0"/>
                <a:cs typeface="Arial" panose="020B0604020202020204" pitchFamily="34" charset="0"/>
              </a:rPr>
              <a:t>Разработка системы для сопоставления резюме и текстовых описаний вакансий для специалистов в области анализа данных</a:t>
            </a:r>
            <a:endParaRPr lang="ru-RU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Факультет компьютерных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B8D49EC-434A-5443-AC3F-85F01995E6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Выпускная 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Квалификационная работа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FAE0FA-3CAF-BA4B-8F9F-5FEF3C2F3CC6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Москва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2026 г.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4AFB2BF-A7AB-5648-ADCD-2A7F1BD358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59421" y="3602735"/>
            <a:ext cx="4904612" cy="2212849"/>
          </a:xfrm>
        </p:spPr>
        <p:txBody>
          <a:bodyPr>
            <a:normAutofit fontScale="92500" lnSpcReduction="20000"/>
          </a:bodyPr>
          <a:lstStyle/>
          <a:p>
            <a:pPr algn="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Выполнил студент МАБД2024</a:t>
            </a:r>
          </a:p>
          <a:p>
            <a:pPr algn="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Третьяков Кирилл Андреевич</a:t>
            </a:r>
          </a:p>
          <a:p>
            <a:pPr algn="r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Руководитель ВКР</a:t>
            </a:r>
          </a:p>
          <a:p>
            <a:pPr algn="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Старший преподаватель ДБДИП ФКН</a:t>
            </a:r>
          </a:p>
          <a:p>
            <a:pPr algn="r"/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Паточенко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Евгений Анатольевич</a:t>
            </a:r>
          </a:p>
          <a:p>
            <a:pPr algn="r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Соруководитель</a:t>
            </a:r>
          </a:p>
          <a:p>
            <a:pPr algn="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Специалист по интеллектуальному анализу данных и машинному обучению категории 2</a:t>
            </a:r>
          </a:p>
          <a:p>
            <a:pPr algn="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Неволина Арина Станиславовна</a:t>
            </a:r>
          </a:p>
          <a:p>
            <a:pPr algn="r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325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489947"/>
            <a:ext cx="1901825" cy="415925"/>
          </a:xfrm>
        </p:spPr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Факультет компьютерных наук</a:t>
            </a: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38727" y="453449"/>
            <a:ext cx="2393381" cy="466882"/>
          </a:xfrm>
        </p:spPr>
        <p:txBody>
          <a:bodyPr/>
          <a:lstStyle/>
          <a:p>
            <a:r>
              <a:rPr lang="ru-RU" cap="small" dirty="0">
                <a:latin typeface="Arial" panose="020B0604020202020204" pitchFamily="34" charset="0"/>
                <a:cs typeface="Arial" panose="020B0604020202020204" pitchFamily="34" charset="0"/>
              </a:rPr>
              <a:t>Разработка системы для сопоставления резюме и текстовых описаний вакансий для специалистов в области анализа данных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Введение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9A733ED-DD18-D06B-2F67-B49B85C52695}"/>
              </a:ext>
            </a:extLst>
          </p:cNvPr>
          <p:cNvSpPr/>
          <p:nvPr/>
        </p:nvSpPr>
        <p:spPr>
          <a:xfrm>
            <a:off x="448056" y="1184456"/>
            <a:ext cx="6327648" cy="699824"/>
          </a:xfrm>
          <a:prstGeom prst="rect">
            <a:avLst/>
          </a:prstGeom>
          <a:solidFill>
            <a:srgbClr val="234A9B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00" b="1" dirty="0">
                <a:latin typeface="Arial" panose="020B0604020202020204" pitchFamily="34" charset="0"/>
                <a:cs typeface="Arial" panose="020B0604020202020204" pitchFamily="34" charset="0"/>
              </a:rPr>
              <a:t>Целью ВКР </a:t>
            </a:r>
            <a:r>
              <a:rPr lang="ru-RU" sz="1300" dirty="0">
                <a:latin typeface="Arial" panose="020B0604020202020204" pitchFamily="34" charset="0"/>
                <a:cs typeface="Arial" panose="020B0604020202020204" pitchFamily="34" charset="0"/>
              </a:rPr>
              <a:t>является построение модели, которая способна находить для резюме наиболее подходящие вакансии, учитывая текстовое содержание.</a:t>
            </a:r>
          </a:p>
        </p:txBody>
      </p:sp>
      <p:graphicFrame>
        <p:nvGraphicFramePr>
          <p:cNvPr id="14" name="Схема 13">
            <a:extLst>
              <a:ext uri="{FF2B5EF4-FFF2-40B4-BE49-F238E27FC236}">
                <a16:creationId xmlns:a16="http://schemas.microsoft.com/office/drawing/2014/main" id="{32C4CA0C-2E74-3C2C-54EF-0BD9207609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5640085"/>
              </p:ext>
            </p:extLst>
          </p:nvPr>
        </p:nvGraphicFramePr>
        <p:xfrm>
          <a:off x="100584" y="2441448"/>
          <a:ext cx="11676888" cy="41879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DEE2C21-92CF-B9B0-21A4-9E0DB97FE9B1}"/>
              </a:ext>
            </a:extLst>
          </p:cNvPr>
          <p:cNvSpPr/>
          <p:nvPr/>
        </p:nvSpPr>
        <p:spPr>
          <a:xfrm>
            <a:off x="448056" y="2061128"/>
            <a:ext cx="6327648" cy="357420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Задачи</a:t>
            </a:r>
          </a:p>
        </p:txBody>
      </p:sp>
      <p:pic>
        <p:nvPicPr>
          <p:cNvPr id="17" name="Рисунок 16" descr="Книги на полке со сплошной заливкой">
            <a:extLst>
              <a:ext uri="{FF2B5EF4-FFF2-40B4-BE49-F238E27FC236}">
                <a16:creationId xmlns:a16="http://schemas.microsoft.com/office/drawing/2014/main" id="{FB59317D-A785-2D7C-4A57-30FBF185A8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9065" y="2685902"/>
            <a:ext cx="457982" cy="403309"/>
          </a:xfrm>
          <a:prstGeom prst="rect">
            <a:avLst/>
          </a:prstGeom>
        </p:spPr>
      </p:pic>
      <p:pic>
        <p:nvPicPr>
          <p:cNvPr id="21" name="Рисунок 20" descr="Простые фигуры контур">
            <a:extLst>
              <a:ext uri="{FF2B5EF4-FFF2-40B4-BE49-F238E27FC236}">
                <a16:creationId xmlns:a16="http://schemas.microsoft.com/office/drawing/2014/main" id="{00BE4F52-9130-217F-4EAF-53D7D90E7F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8369" y="3298062"/>
            <a:ext cx="548640" cy="548640"/>
          </a:xfrm>
          <a:prstGeom prst="rect">
            <a:avLst/>
          </a:prstGeom>
        </p:spPr>
      </p:pic>
      <p:pic>
        <p:nvPicPr>
          <p:cNvPr id="25" name="Рисунок 24" descr="Флажок со сплошной заливкой">
            <a:extLst>
              <a:ext uri="{FF2B5EF4-FFF2-40B4-BE49-F238E27FC236}">
                <a16:creationId xmlns:a16="http://schemas.microsoft.com/office/drawing/2014/main" id="{3C32C132-E472-90E3-5922-1C02C44C0D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2689" y="3980635"/>
            <a:ext cx="438912" cy="438912"/>
          </a:xfrm>
          <a:prstGeom prst="rect">
            <a:avLst/>
          </a:prstGeom>
        </p:spPr>
      </p:pic>
      <p:pic>
        <p:nvPicPr>
          <p:cNvPr id="27" name="Рисунок 26" descr="Абак со сплошной заливкой">
            <a:extLst>
              <a:ext uri="{FF2B5EF4-FFF2-40B4-BE49-F238E27FC236}">
                <a16:creationId xmlns:a16="http://schemas.microsoft.com/office/drawing/2014/main" id="{2409EE52-F219-F8F2-D395-5624CF5BF9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2687" y="4628398"/>
            <a:ext cx="438914" cy="438915"/>
          </a:xfrm>
          <a:prstGeom prst="rect">
            <a:avLst/>
          </a:prstGeom>
        </p:spPr>
      </p:pic>
      <p:pic>
        <p:nvPicPr>
          <p:cNvPr id="29" name="Рисунок 28" descr="Перо для каллиграфии со сплошной заливкой">
            <a:extLst>
              <a:ext uri="{FF2B5EF4-FFF2-40B4-BE49-F238E27FC236}">
                <a16:creationId xmlns:a16="http://schemas.microsoft.com/office/drawing/2014/main" id="{A66A0A73-831B-B872-CE80-CC83C8089D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43232" y="5299715"/>
            <a:ext cx="438914" cy="438914"/>
          </a:xfrm>
          <a:prstGeom prst="rect">
            <a:avLst/>
          </a:prstGeom>
        </p:spPr>
      </p:pic>
      <p:pic>
        <p:nvPicPr>
          <p:cNvPr id="31" name="Рисунок 30" descr="Электронная коммерция со сплошной заливкой">
            <a:extLst>
              <a:ext uri="{FF2B5EF4-FFF2-40B4-BE49-F238E27FC236}">
                <a16:creationId xmlns:a16="http://schemas.microsoft.com/office/drawing/2014/main" id="{8E601432-0C3B-CE34-1A66-F4480A5DB0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9065" y="5971033"/>
            <a:ext cx="457200" cy="457200"/>
          </a:xfrm>
          <a:prstGeom prst="rect">
            <a:avLst/>
          </a:prstGeom>
        </p:spPr>
      </p:pic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656EA485-3357-C23F-F60E-14193FBE62FA}"/>
              </a:ext>
            </a:extLst>
          </p:cNvPr>
          <p:cNvSpPr/>
          <p:nvPr/>
        </p:nvSpPr>
        <p:spPr>
          <a:xfrm>
            <a:off x="6885432" y="1191168"/>
            <a:ext cx="2615184" cy="1250280"/>
          </a:xfrm>
          <a:prstGeom prst="rect">
            <a:avLst/>
          </a:prstGeom>
          <a:solidFill>
            <a:srgbClr val="234A9B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00" b="1" dirty="0">
                <a:latin typeface="Arial" panose="020B0604020202020204" pitchFamily="34" charset="0"/>
                <a:cs typeface="Arial" panose="020B0604020202020204" pitchFamily="34" charset="0"/>
              </a:rPr>
              <a:t>Предметом исследования </a:t>
            </a:r>
            <a:r>
              <a:rPr lang="ru-RU" sz="1300" dirty="0">
                <a:latin typeface="Arial" panose="020B0604020202020204" pitchFamily="34" charset="0"/>
                <a:cs typeface="Arial" panose="020B0604020202020204" pitchFamily="34" charset="0"/>
              </a:rPr>
              <a:t>данной работы является процесс автоматического сопоставления текстовых описаний резюме и вакансий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15DE05D0-EFC1-8CAB-8E53-B351DC911006}"/>
              </a:ext>
            </a:extLst>
          </p:cNvPr>
          <p:cNvSpPr/>
          <p:nvPr/>
        </p:nvSpPr>
        <p:spPr>
          <a:xfrm>
            <a:off x="9610343" y="1184456"/>
            <a:ext cx="2248281" cy="1250280"/>
          </a:xfrm>
          <a:prstGeom prst="rect">
            <a:avLst/>
          </a:prstGeom>
          <a:solidFill>
            <a:srgbClr val="234A9B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00" b="1" dirty="0">
                <a:latin typeface="Arial" panose="020B0604020202020204" pitchFamily="34" charset="0"/>
                <a:cs typeface="Arial" panose="020B0604020202020204" pitchFamily="34" charset="0"/>
              </a:rPr>
              <a:t>Объектом исследования </a:t>
            </a:r>
            <a:r>
              <a:rPr lang="ru-RU" sz="1300" dirty="0">
                <a:latin typeface="Arial" panose="020B0604020202020204" pitchFamily="34" charset="0"/>
                <a:cs typeface="Arial" panose="020B0604020202020204" pitchFamily="34" charset="0"/>
              </a:rPr>
              <a:t>являются карточки вакансий и резюме, полученные парсингом с онлайн-платформы по поиску работы </a:t>
            </a:r>
          </a:p>
        </p:txBody>
      </p:sp>
    </p:spTree>
    <p:extLst>
      <p:ext uri="{BB962C8B-B14F-4D97-AF65-F5344CB8AC3E}">
        <p14:creationId xmlns:p14="http://schemas.microsoft.com/office/powerpoint/2010/main" val="843577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4">
            <a:extLst>
              <a:ext uri="{FF2B5EF4-FFF2-40B4-BE49-F238E27FC236}">
                <a16:creationId xmlns:a16="http://schemas.microsoft.com/office/drawing/2014/main" id="{9BDA463E-2BC9-86D0-7143-05B9CF2D884C}"/>
              </a:ext>
            </a:extLst>
          </p:cNvPr>
          <p:cNvSpPr txBox="1">
            <a:spLocks/>
          </p:cNvSpPr>
          <p:nvPr/>
        </p:nvSpPr>
        <p:spPr>
          <a:xfrm>
            <a:off x="1143689" y="489947"/>
            <a:ext cx="1901825" cy="415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Факультет компьютерных наук</a:t>
            </a: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Текст 5">
            <a:extLst>
              <a:ext uri="{FF2B5EF4-FFF2-40B4-BE49-F238E27FC236}">
                <a16:creationId xmlns:a16="http://schemas.microsoft.com/office/drawing/2014/main" id="{400ECFC4-1F67-7D27-CE3F-A1FFFD73D890}"/>
              </a:ext>
            </a:extLst>
          </p:cNvPr>
          <p:cNvSpPr txBox="1">
            <a:spLocks/>
          </p:cNvSpPr>
          <p:nvPr/>
        </p:nvSpPr>
        <p:spPr>
          <a:xfrm>
            <a:off x="3538727" y="453449"/>
            <a:ext cx="2393381" cy="46688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cap="small" dirty="0">
                <a:latin typeface="Arial" panose="020B0604020202020204" pitchFamily="34" charset="0"/>
                <a:cs typeface="Arial" panose="020B0604020202020204" pitchFamily="34" charset="0"/>
              </a:rPr>
              <a:t>Разработка системы для сопоставления резюме и текстовых описаний вакансий для специалистов в области анализа данных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B503C208-39D0-F22A-3F79-15C60CE36F4D}"/>
              </a:ext>
            </a:extLst>
          </p:cNvPr>
          <p:cNvSpPr txBox="1">
            <a:spLocks/>
          </p:cNvSpPr>
          <p:nvPr/>
        </p:nvSpPr>
        <p:spPr>
          <a:xfrm>
            <a:off x="6259892" y="548720"/>
            <a:ext cx="2070100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Введение</a:t>
            </a:r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717D005B-7396-D952-6CBB-D20243C95B1A}"/>
              </a:ext>
            </a:extLst>
          </p:cNvPr>
          <p:cNvSpPr/>
          <p:nvPr/>
        </p:nvSpPr>
        <p:spPr>
          <a:xfrm>
            <a:off x="358840" y="1101747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Pipeline работы системы сопоставления резюме и вакансий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2BCE8412-89EB-26EA-9620-3AF78BE30282}"/>
              </a:ext>
            </a:extLst>
          </p:cNvPr>
          <p:cNvSpPr/>
          <p:nvPr/>
        </p:nvSpPr>
        <p:spPr>
          <a:xfrm>
            <a:off x="358840" y="162638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От сбора данных до выдачи top-5 подходящих вакансий пользователю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73C5B8BF-657E-AAED-24FE-0CE51AEDC483}"/>
              </a:ext>
            </a:extLst>
          </p:cNvPr>
          <p:cNvSpPr/>
          <p:nvPr/>
        </p:nvSpPr>
        <p:spPr>
          <a:xfrm>
            <a:off x="2059624" y="3288979"/>
            <a:ext cx="201168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B7B3698D-A499-C3D9-F7DF-BC17A7B0E797}"/>
              </a:ext>
            </a:extLst>
          </p:cNvPr>
          <p:cNvSpPr/>
          <p:nvPr/>
        </p:nvSpPr>
        <p:spPr>
          <a:xfrm>
            <a:off x="3998152" y="3288979"/>
            <a:ext cx="201168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E49E3EBE-5418-7B28-A89A-B02801833A77}"/>
              </a:ext>
            </a:extLst>
          </p:cNvPr>
          <p:cNvSpPr/>
          <p:nvPr/>
        </p:nvSpPr>
        <p:spPr>
          <a:xfrm>
            <a:off x="5936680" y="3288979"/>
            <a:ext cx="201168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09C71F4E-697A-BC45-310A-330BDC114CB4}"/>
              </a:ext>
            </a:extLst>
          </p:cNvPr>
          <p:cNvSpPr/>
          <p:nvPr/>
        </p:nvSpPr>
        <p:spPr>
          <a:xfrm>
            <a:off x="7875208" y="3288979"/>
            <a:ext cx="201168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3694D439-A760-C614-A07C-6F592420C0F4}"/>
              </a:ext>
            </a:extLst>
          </p:cNvPr>
          <p:cNvSpPr/>
          <p:nvPr/>
        </p:nvSpPr>
        <p:spPr>
          <a:xfrm>
            <a:off x="9813736" y="3288979"/>
            <a:ext cx="201168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99E8E019-DEC0-255A-6744-99D28B418258}"/>
              </a:ext>
            </a:extLst>
          </p:cNvPr>
          <p:cNvSpPr/>
          <p:nvPr/>
        </p:nvSpPr>
        <p:spPr>
          <a:xfrm>
            <a:off x="340552" y="2200843"/>
            <a:ext cx="1700784" cy="2176272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38100">
            <a:solidFill>
              <a:srgbClr val="234A9B"/>
            </a:solidFill>
            <a:prstDash val="solid"/>
          </a:ln>
          <a:effectLst>
            <a:outerShdw blurRad="12700" dist="50800" dir="2700000" algn="bl" rotWithShape="0">
              <a:srgbClr val="D1D5DB">
                <a:alpha val="18000"/>
              </a:srgbClr>
            </a:outerShdw>
          </a:effectLst>
        </p:spPr>
        <p:txBody>
          <a:bodyPr/>
          <a:lstStyle/>
          <a:p>
            <a:endParaRPr lang="ru-RU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7B0ACB50-2D69-F2A9-9548-7B3D85045E20}"/>
              </a:ext>
            </a:extLst>
          </p:cNvPr>
          <p:cNvSpPr/>
          <p:nvPr/>
        </p:nvSpPr>
        <p:spPr>
          <a:xfrm>
            <a:off x="505144" y="2402011"/>
            <a:ext cx="420624" cy="420624"/>
          </a:xfrm>
          <a:prstGeom prst="ellipse">
            <a:avLst/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ru-RU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6D514185-C6AA-9A8C-2C68-FC787A374C69}"/>
              </a:ext>
            </a:extLst>
          </p:cNvPr>
          <p:cNvSpPr/>
          <p:nvPr/>
        </p:nvSpPr>
        <p:spPr>
          <a:xfrm>
            <a:off x="505144" y="2502595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1300" b="1" dirty="0"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B7B3880A-3877-6C19-C4F9-566D09B099AC}"/>
              </a:ext>
            </a:extLst>
          </p:cNvPr>
          <p:cNvSpPr/>
          <p:nvPr/>
        </p:nvSpPr>
        <p:spPr>
          <a:xfrm>
            <a:off x="505144" y="3042091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Сбор данных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B0DEB0C5-B7A2-2CAF-A6F6-7DF7D390D00C}"/>
              </a:ext>
            </a:extLst>
          </p:cNvPr>
          <p:cNvSpPr/>
          <p:nvPr/>
        </p:nvSpPr>
        <p:spPr>
          <a:xfrm>
            <a:off x="505144" y="3426139"/>
            <a:ext cx="140817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Парсинг резюме и вакансий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 HH.ru, сохранение в БД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14">
            <a:extLst>
              <a:ext uri="{FF2B5EF4-FFF2-40B4-BE49-F238E27FC236}">
                <a16:creationId xmlns:a16="http://schemas.microsoft.com/office/drawing/2014/main" id="{57439711-2807-A65F-49AA-9978E9815C3A}"/>
              </a:ext>
            </a:extLst>
          </p:cNvPr>
          <p:cNvSpPr/>
          <p:nvPr/>
        </p:nvSpPr>
        <p:spPr>
          <a:xfrm>
            <a:off x="2279080" y="2200843"/>
            <a:ext cx="1700784" cy="2176272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38100">
            <a:solidFill>
              <a:srgbClr val="234A9B"/>
            </a:solidFill>
            <a:prstDash val="solid"/>
          </a:ln>
          <a:effectLst>
            <a:outerShdw blurRad="12700" dist="50800" dir="2700000" algn="bl" rotWithShape="0">
              <a:srgbClr val="D1D5DB">
                <a:alpha val="18000"/>
              </a:srgbClr>
            </a:outerShdw>
          </a:effectLst>
        </p:spPr>
        <p:txBody>
          <a:bodyPr/>
          <a:lstStyle/>
          <a:p>
            <a:endParaRPr lang="ru-RU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15">
            <a:extLst>
              <a:ext uri="{FF2B5EF4-FFF2-40B4-BE49-F238E27FC236}">
                <a16:creationId xmlns:a16="http://schemas.microsoft.com/office/drawing/2014/main" id="{3B287531-0AB2-236C-2D5F-FB70AC0B3A04}"/>
              </a:ext>
            </a:extLst>
          </p:cNvPr>
          <p:cNvSpPr/>
          <p:nvPr/>
        </p:nvSpPr>
        <p:spPr>
          <a:xfrm>
            <a:off x="2443672" y="2402011"/>
            <a:ext cx="420624" cy="420624"/>
          </a:xfrm>
          <a:prstGeom prst="ellipse">
            <a:avLst/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ru-RU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16">
            <a:extLst>
              <a:ext uri="{FF2B5EF4-FFF2-40B4-BE49-F238E27FC236}">
                <a16:creationId xmlns:a16="http://schemas.microsoft.com/office/drawing/2014/main" id="{D3E9521E-23C0-246B-E08E-3B1774E8F705}"/>
              </a:ext>
            </a:extLst>
          </p:cNvPr>
          <p:cNvSpPr/>
          <p:nvPr/>
        </p:nvSpPr>
        <p:spPr>
          <a:xfrm>
            <a:off x="2443672" y="2502595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17">
            <a:extLst>
              <a:ext uri="{FF2B5EF4-FFF2-40B4-BE49-F238E27FC236}">
                <a16:creationId xmlns:a16="http://schemas.microsoft.com/office/drawing/2014/main" id="{8AF15E20-502F-4350-E3B1-D3476C2104FF}"/>
              </a:ext>
            </a:extLst>
          </p:cNvPr>
          <p:cNvSpPr/>
          <p:nvPr/>
        </p:nvSpPr>
        <p:spPr>
          <a:xfrm>
            <a:off x="2443672" y="3042091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Очистка текста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18">
            <a:extLst>
              <a:ext uri="{FF2B5EF4-FFF2-40B4-BE49-F238E27FC236}">
                <a16:creationId xmlns:a16="http://schemas.microsoft.com/office/drawing/2014/main" id="{639C4723-B064-C16E-F177-8A1C327BB16F}"/>
              </a:ext>
            </a:extLst>
          </p:cNvPr>
          <p:cNvSpPr/>
          <p:nvPr/>
        </p:nvSpPr>
        <p:spPr>
          <a:xfrm>
            <a:off x="2443672" y="3426139"/>
            <a:ext cx="140817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Удаление служебных блоков,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нормализация описаний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19">
            <a:extLst>
              <a:ext uri="{FF2B5EF4-FFF2-40B4-BE49-F238E27FC236}">
                <a16:creationId xmlns:a16="http://schemas.microsoft.com/office/drawing/2014/main" id="{F90F7950-FD03-2A60-C785-1D0F1756B734}"/>
              </a:ext>
            </a:extLst>
          </p:cNvPr>
          <p:cNvSpPr/>
          <p:nvPr/>
        </p:nvSpPr>
        <p:spPr>
          <a:xfrm>
            <a:off x="4190176" y="2200843"/>
            <a:ext cx="1700784" cy="2176272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38100">
            <a:solidFill>
              <a:srgbClr val="234A9B"/>
            </a:solidFill>
            <a:prstDash val="solid"/>
          </a:ln>
          <a:effectLst>
            <a:outerShdw blurRad="12700" dist="50800" dir="2700000" algn="bl" rotWithShape="0">
              <a:srgbClr val="D1D5DB">
                <a:alpha val="18000"/>
              </a:srgbClr>
            </a:outerShdw>
          </a:effectLst>
        </p:spPr>
        <p:txBody>
          <a:bodyPr/>
          <a:lstStyle/>
          <a:p>
            <a:endParaRPr lang="ru-RU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20">
            <a:extLst>
              <a:ext uri="{FF2B5EF4-FFF2-40B4-BE49-F238E27FC236}">
                <a16:creationId xmlns:a16="http://schemas.microsoft.com/office/drawing/2014/main" id="{498EA42A-926B-6CAA-CC09-744B58357ADF}"/>
              </a:ext>
            </a:extLst>
          </p:cNvPr>
          <p:cNvSpPr/>
          <p:nvPr/>
        </p:nvSpPr>
        <p:spPr>
          <a:xfrm>
            <a:off x="4382200" y="2402011"/>
            <a:ext cx="420624" cy="420624"/>
          </a:xfrm>
          <a:prstGeom prst="ellipse">
            <a:avLst/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ru-RU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21">
            <a:extLst>
              <a:ext uri="{FF2B5EF4-FFF2-40B4-BE49-F238E27FC236}">
                <a16:creationId xmlns:a16="http://schemas.microsoft.com/office/drawing/2014/main" id="{DD8021A2-57BE-2466-781E-805D57A0F3E0}"/>
              </a:ext>
            </a:extLst>
          </p:cNvPr>
          <p:cNvSpPr/>
          <p:nvPr/>
        </p:nvSpPr>
        <p:spPr>
          <a:xfrm>
            <a:off x="4382200" y="2502595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22">
            <a:extLst>
              <a:ext uri="{FF2B5EF4-FFF2-40B4-BE49-F238E27FC236}">
                <a16:creationId xmlns:a16="http://schemas.microsoft.com/office/drawing/2014/main" id="{696825F5-33BB-A000-7AB3-79CF2ACD966D}"/>
              </a:ext>
            </a:extLst>
          </p:cNvPr>
          <p:cNvSpPr/>
          <p:nvPr/>
        </p:nvSpPr>
        <p:spPr>
          <a:xfrm>
            <a:off x="4382200" y="3042091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Признаки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23">
            <a:extLst>
              <a:ext uri="{FF2B5EF4-FFF2-40B4-BE49-F238E27FC236}">
                <a16:creationId xmlns:a16="http://schemas.microsoft.com/office/drawing/2014/main" id="{94E69E75-23AB-5544-12B6-B81DD3887275}"/>
              </a:ext>
            </a:extLst>
          </p:cNvPr>
          <p:cNvSpPr/>
          <p:nvPr/>
        </p:nvSpPr>
        <p:spPr>
          <a:xfrm>
            <a:off x="4382200" y="3426139"/>
            <a:ext cx="140817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300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Выделение и нормализация навыков и опыта работы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Shape 24">
            <a:extLst>
              <a:ext uri="{FF2B5EF4-FFF2-40B4-BE49-F238E27FC236}">
                <a16:creationId xmlns:a16="http://schemas.microsoft.com/office/drawing/2014/main" id="{A8DA13BF-5F77-6284-6757-5B31BE76B00B}"/>
              </a:ext>
            </a:extLst>
          </p:cNvPr>
          <p:cNvSpPr/>
          <p:nvPr/>
        </p:nvSpPr>
        <p:spPr>
          <a:xfrm>
            <a:off x="6156136" y="2200843"/>
            <a:ext cx="1700784" cy="2176272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38100">
            <a:solidFill>
              <a:srgbClr val="234A9B"/>
            </a:solidFill>
            <a:prstDash val="solid"/>
          </a:ln>
          <a:effectLst>
            <a:outerShdw blurRad="12700" dist="50800" dir="2700000" algn="bl" rotWithShape="0">
              <a:srgbClr val="D1D5DB">
                <a:alpha val="18000"/>
              </a:srgbClr>
            </a:outerShdw>
          </a:effectLst>
        </p:spPr>
        <p:txBody>
          <a:bodyPr/>
          <a:lstStyle/>
          <a:p>
            <a:endParaRPr lang="ru-RU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Shape 25">
            <a:extLst>
              <a:ext uri="{FF2B5EF4-FFF2-40B4-BE49-F238E27FC236}">
                <a16:creationId xmlns:a16="http://schemas.microsoft.com/office/drawing/2014/main" id="{D4C786CC-8EDB-F575-AE86-D0849A8667AF}"/>
              </a:ext>
            </a:extLst>
          </p:cNvPr>
          <p:cNvSpPr/>
          <p:nvPr/>
        </p:nvSpPr>
        <p:spPr>
          <a:xfrm>
            <a:off x="6320728" y="2402011"/>
            <a:ext cx="420624" cy="420624"/>
          </a:xfrm>
          <a:prstGeom prst="ellipse">
            <a:avLst/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ru-RU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26">
            <a:extLst>
              <a:ext uri="{FF2B5EF4-FFF2-40B4-BE49-F238E27FC236}">
                <a16:creationId xmlns:a16="http://schemas.microsoft.com/office/drawing/2014/main" id="{C3C1BF34-65FB-7497-2BFF-0698448111F6}"/>
              </a:ext>
            </a:extLst>
          </p:cNvPr>
          <p:cNvSpPr/>
          <p:nvPr/>
        </p:nvSpPr>
        <p:spPr>
          <a:xfrm>
            <a:off x="6320728" y="2502595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11A3B83-4D66-15EF-E452-8F4EC826EE42}"/>
              </a:ext>
            </a:extLst>
          </p:cNvPr>
          <p:cNvSpPr/>
          <p:nvPr/>
        </p:nvSpPr>
        <p:spPr>
          <a:xfrm>
            <a:off x="6320728" y="2959843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300" b="1" dirty="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Формирование </a:t>
            </a:r>
            <a:r>
              <a:rPr lang="ru-RU" sz="1300" b="1" dirty="0" err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псевдотаргета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28">
            <a:extLst>
              <a:ext uri="{FF2B5EF4-FFF2-40B4-BE49-F238E27FC236}">
                <a16:creationId xmlns:a16="http://schemas.microsoft.com/office/drawing/2014/main" id="{1B926A57-9C62-DCAB-B2B4-313D3ADB1B3C}"/>
              </a:ext>
            </a:extLst>
          </p:cNvPr>
          <p:cNvSpPr/>
          <p:nvPr/>
        </p:nvSpPr>
        <p:spPr>
          <a:xfrm>
            <a:off x="6320728" y="3426139"/>
            <a:ext cx="140817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semantic_score + skill_score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exp_score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Shape 29">
            <a:extLst>
              <a:ext uri="{FF2B5EF4-FFF2-40B4-BE49-F238E27FC236}">
                <a16:creationId xmlns:a16="http://schemas.microsoft.com/office/drawing/2014/main" id="{3FFB220E-83F4-5786-E064-0A003007074F}"/>
              </a:ext>
            </a:extLst>
          </p:cNvPr>
          <p:cNvSpPr/>
          <p:nvPr/>
        </p:nvSpPr>
        <p:spPr>
          <a:xfrm>
            <a:off x="8094664" y="2200843"/>
            <a:ext cx="1700784" cy="2176272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38100">
            <a:solidFill>
              <a:srgbClr val="234A9B"/>
            </a:solidFill>
            <a:prstDash val="solid"/>
          </a:ln>
          <a:effectLst>
            <a:outerShdw blurRad="12700" dist="50800" dir="2700000" algn="bl" rotWithShape="0">
              <a:srgbClr val="D1D5DB">
                <a:alpha val="18000"/>
              </a:srgbClr>
            </a:outerShdw>
          </a:effectLst>
        </p:spPr>
        <p:txBody>
          <a:bodyPr/>
          <a:lstStyle/>
          <a:p>
            <a:endParaRPr lang="ru-RU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Shape 30">
            <a:extLst>
              <a:ext uri="{FF2B5EF4-FFF2-40B4-BE49-F238E27FC236}">
                <a16:creationId xmlns:a16="http://schemas.microsoft.com/office/drawing/2014/main" id="{02946F8A-6ED5-D470-BD7E-15B52276376E}"/>
              </a:ext>
            </a:extLst>
          </p:cNvPr>
          <p:cNvSpPr/>
          <p:nvPr/>
        </p:nvSpPr>
        <p:spPr>
          <a:xfrm>
            <a:off x="8259256" y="2402011"/>
            <a:ext cx="420624" cy="420624"/>
          </a:xfrm>
          <a:prstGeom prst="ellipse">
            <a:avLst/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ru-RU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31">
            <a:extLst>
              <a:ext uri="{FF2B5EF4-FFF2-40B4-BE49-F238E27FC236}">
                <a16:creationId xmlns:a16="http://schemas.microsoft.com/office/drawing/2014/main" id="{0FB8B074-721F-8E88-1F95-95768D406302}"/>
              </a:ext>
            </a:extLst>
          </p:cNvPr>
          <p:cNvSpPr/>
          <p:nvPr/>
        </p:nvSpPr>
        <p:spPr>
          <a:xfrm>
            <a:off x="8259256" y="2502595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 32">
            <a:extLst>
              <a:ext uri="{FF2B5EF4-FFF2-40B4-BE49-F238E27FC236}">
                <a16:creationId xmlns:a16="http://schemas.microsoft.com/office/drawing/2014/main" id="{21AFEE17-23DC-75F9-AB82-F475233944A1}"/>
              </a:ext>
            </a:extLst>
          </p:cNvPr>
          <p:cNvSpPr/>
          <p:nvPr/>
        </p:nvSpPr>
        <p:spPr>
          <a:xfrm>
            <a:off x="8212136" y="2959479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300" b="1" dirty="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Ранжирование и оценка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 33">
            <a:extLst>
              <a:ext uri="{FF2B5EF4-FFF2-40B4-BE49-F238E27FC236}">
                <a16:creationId xmlns:a16="http://schemas.microsoft.com/office/drawing/2014/main" id="{3BFC52CE-34C0-2F9B-D91D-FE172D0DD11F}"/>
              </a:ext>
            </a:extLst>
          </p:cNvPr>
          <p:cNvSpPr/>
          <p:nvPr/>
        </p:nvSpPr>
        <p:spPr>
          <a:xfrm>
            <a:off x="8212136" y="3371007"/>
            <a:ext cx="148907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300" dirty="0">
                <a:latin typeface="Arial" panose="020B0604020202020204" pitchFamily="34" charset="0"/>
                <a:cs typeface="Arial" panose="020B0604020202020204" pitchFamily="34" charset="0"/>
              </a:rPr>
              <a:t>Ранжирование по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score (</a:t>
            </a:r>
            <a:r>
              <a:rPr lang="ru-RU" sz="1300" dirty="0">
                <a:latin typeface="Arial" panose="020B0604020202020204" pitchFamily="34" charset="0"/>
                <a:cs typeface="Arial" panose="020B0604020202020204" pitchFamily="34" charset="0"/>
              </a:rPr>
              <a:t>результат работы модели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ru-RU" sz="1300" dirty="0">
                <a:latin typeface="Arial" panose="020B0604020202020204" pitchFamily="34" charset="0"/>
                <a:cs typeface="Arial" panose="020B0604020202020204" pitchFamily="34" charset="0"/>
              </a:rPr>
              <a:t>, оценка качества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Shape 34">
            <a:extLst>
              <a:ext uri="{FF2B5EF4-FFF2-40B4-BE49-F238E27FC236}">
                <a16:creationId xmlns:a16="http://schemas.microsoft.com/office/drawing/2014/main" id="{24AF4817-5155-B7E1-8648-7D29F889E441}"/>
              </a:ext>
            </a:extLst>
          </p:cNvPr>
          <p:cNvSpPr/>
          <p:nvPr/>
        </p:nvSpPr>
        <p:spPr>
          <a:xfrm>
            <a:off x="10033192" y="2200843"/>
            <a:ext cx="1700784" cy="2176272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38100">
            <a:solidFill>
              <a:srgbClr val="234A9B"/>
            </a:solidFill>
            <a:prstDash val="solid"/>
          </a:ln>
          <a:effectLst>
            <a:outerShdw blurRad="12700" dist="50800" dir="2700000" algn="bl" rotWithShape="0">
              <a:srgbClr val="D1D5DB">
                <a:alpha val="18000"/>
              </a:srgbClr>
            </a:outerShdw>
          </a:effectLst>
        </p:spPr>
        <p:txBody>
          <a:bodyPr/>
          <a:lstStyle/>
          <a:p>
            <a:endParaRPr lang="ru-RU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Shape 35">
            <a:extLst>
              <a:ext uri="{FF2B5EF4-FFF2-40B4-BE49-F238E27FC236}">
                <a16:creationId xmlns:a16="http://schemas.microsoft.com/office/drawing/2014/main" id="{C4A33AC9-3E36-5A89-5A19-2224B6F7BEBF}"/>
              </a:ext>
            </a:extLst>
          </p:cNvPr>
          <p:cNvSpPr/>
          <p:nvPr/>
        </p:nvSpPr>
        <p:spPr>
          <a:xfrm>
            <a:off x="10197784" y="2402011"/>
            <a:ext cx="420624" cy="420624"/>
          </a:xfrm>
          <a:prstGeom prst="ellipse">
            <a:avLst/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ru-RU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36">
            <a:extLst>
              <a:ext uri="{FF2B5EF4-FFF2-40B4-BE49-F238E27FC236}">
                <a16:creationId xmlns:a16="http://schemas.microsoft.com/office/drawing/2014/main" id="{AA1D9CAA-B493-2D61-2E2A-14E5A4A9FCAC}"/>
              </a:ext>
            </a:extLst>
          </p:cNvPr>
          <p:cNvSpPr/>
          <p:nvPr/>
        </p:nvSpPr>
        <p:spPr>
          <a:xfrm>
            <a:off x="10197784" y="2502595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06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 37">
            <a:extLst>
              <a:ext uri="{FF2B5EF4-FFF2-40B4-BE49-F238E27FC236}">
                <a16:creationId xmlns:a16="http://schemas.microsoft.com/office/drawing/2014/main" id="{03633097-297C-772B-04B1-E1DEBE4F3260}"/>
              </a:ext>
            </a:extLst>
          </p:cNvPr>
          <p:cNvSpPr/>
          <p:nvPr/>
        </p:nvSpPr>
        <p:spPr>
          <a:xfrm>
            <a:off x="10197784" y="3042091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UI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 38">
            <a:extLst>
              <a:ext uri="{FF2B5EF4-FFF2-40B4-BE49-F238E27FC236}">
                <a16:creationId xmlns:a16="http://schemas.microsoft.com/office/drawing/2014/main" id="{FE5D723B-2B53-D350-22FA-0E9CB8CD643C}"/>
              </a:ext>
            </a:extLst>
          </p:cNvPr>
          <p:cNvSpPr/>
          <p:nvPr/>
        </p:nvSpPr>
        <p:spPr>
          <a:xfrm>
            <a:off x="10197784" y="3426139"/>
            <a:ext cx="140817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300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Вывод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top-5 рекомендаций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Shape 39">
            <a:extLst>
              <a:ext uri="{FF2B5EF4-FFF2-40B4-BE49-F238E27FC236}">
                <a16:creationId xmlns:a16="http://schemas.microsoft.com/office/drawing/2014/main" id="{0B60E24E-3ABF-354E-E3F5-B4E2D7D0A5B8}"/>
              </a:ext>
            </a:extLst>
          </p:cNvPr>
          <p:cNvSpPr/>
          <p:nvPr/>
        </p:nvSpPr>
        <p:spPr>
          <a:xfrm>
            <a:off x="473140" y="4777521"/>
            <a:ext cx="10835640" cy="96012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ru-RU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 40">
            <a:extLst>
              <a:ext uri="{FF2B5EF4-FFF2-40B4-BE49-F238E27FC236}">
                <a16:creationId xmlns:a16="http://schemas.microsoft.com/office/drawing/2014/main" id="{D9FD53A0-BC9D-61E7-DE68-1E8A2B18169D}"/>
              </a:ext>
            </a:extLst>
          </p:cNvPr>
          <p:cNvSpPr/>
          <p:nvPr/>
        </p:nvSpPr>
        <p:spPr>
          <a:xfrm>
            <a:off x="747460" y="5129565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Итоговый результат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 41">
            <a:extLst>
              <a:ext uri="{FF2B5EF4-FFF2-40B4-BE49-F238E27FC236}">
                <a16:creationId xmlns:a16="http://schemas.microsoft.com/office/drawing/2014/main" id="{60C52097-900A-CE10-20F2-9EFEC602EC23}"/>
              </a:ext>
            </a:extLst>
          </p:cNvPr>
          <p:cNvSpPr/>
          <p:nvPr/>
        </p:nvSpPr>
        <p:spPr>
          <a:xfrm>
            <a:off x="2850580" y="5038125"/>
            <a:ext cx="7909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300" dirty="0">
                <a:solidFill>
                  <a:srgbClr val="1F29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 выходе система принимает резюме кандидата и формирует подборку из 5 наиболее релевантных вакансий, ранжированных по итоговому показателю соответствия.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28B230BB-35DC-5CB5-4315-B99EC9BCE231}"/>
              </a:ext>
            </a:extLst>
          </p:cNvPr>
          <p:cNvSpPr/>
          <p:nvPr/>
        </p:nvSpPr>
        <p:spPr>
          <a:xfrm>
            <a:off x="532576" y="616671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300" dirty="0">
                <a:solidFill>
                  <a:srgbClr val="4B556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Ссылка н</a:t>
            </a:r>
            <a:r>
              <a:rPr lang="en-US" sz="1300" dirty="0">
                <a:solidFill>
                  <a:srgbClr val="4B556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 GitHub </a:t>
            </a:r>
            <a:r>
              <a:rPr lang="en-US" sz="1300" dirty="0">
                <a:solidFill>
                  <a:srgbClr val="4B556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  <a:hlinkClick r:id="rId2"/>
              </a:rPr>
              <a:t>https://github.com/KirillTretyakov/thesis</a:t>
            </a:r>
            <a:r>
              <a:rPr lang="ru-RU" sz="1300" dirty="0">
                <a:solidFill>
                  <a:srgbClr val="4B556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  <a:hlinkClick r:id="rId2"/>
              </a:rPr>
              <a:t> 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5976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4">
            <a:extLst>
              <a:ext uri="{FF2B5EF4-FFF2-40B4-BE49-F238E27FC236}">
                <a16:creationId xmlns:a16="http://schemas.microsoft.com/office/drawing/2014/main" id="{1C165B45-A37A-60C7-6832-F5C404375D74}"/>
              </a:ext>
            </a:extLst>
          </p:cNvPr>
          <p:cNvSpPr txBox="1">
            <a:spLocks/>
          </p:cNvSpPr>
          <p:nvPr/>
        </p:nvSpPr>
        <p:spPr>
          <a:xfrm>
            <a:off x="1143689" y="489947"/>
            <a:ext cx="1901825" cy="415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Факультет компьютерных наук</a:t>
            </a: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BB1ACF25-31C7-51BF-B4B5-65220D154430}"/>
              </a:ext>
            </a:extLst>
          </p:cNvPr>
          <p:cNvSpPr txBox="1">
            <a:spLocks/>
          </p:cNvSpPr>
          <p:nvPr/>
        </p:nvSpPr>
        <p:spPr>
          <a:xfrm>
            <a:off x="3538727" y="453449"/>
            <a:ext cx="2393381" cy="46688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cap="small" dirty="0">
                <a:latin typeface="Arial" panose="020B0604020202020204" pitchFamily="34" charset="0"/>
                <a:cs typeface="Arial" panose="020B0604020202020204" pitchFamily="34" charset="0"/>
              </a:rPr>
              <a:t>Разработка системы для сопоставления резюме и текстовых описаний вакансий для специалистов в области анализа данных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Текст 6">
            <a:extLst>
              <a:ext uri="{FF2B5EF4-FFF2-40B4-BE49-F238E27FC236}">
                <a16:creationId xmlns:a16="http://schemas.microsoft.com/office/drawing/2014/main" id="{70727D78-DCE2-50A8-827A-07D09B4FF771}"/>
              </a:ext>
            </a:extLst>
          </p:cNvPr>
          <p:cNvSpPr txBox="1">
            <a:spLocks/>
          </p:cNvSpPr>
          <p:nvPr/>
        </p:nvSpPr>
        <p:spPr>
          <a:xfrm>
            <a:off x="6259892" y="548720"/>
            <a:ext cx="2070100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Сбор</a:t>
            </a:r>
            <a:r>
              <a:rPr lang="en-US" dirty="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данных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2" name="Схема 11">
            <a:extLst>
              <a:ext uri="{FF2B5EF4-FFF2-40B4-BE49-F238E27FC236}">
                <a16:creationId xmlns:a16="http://schemas.microsoft.com/office/drawing/2014/main" id="{73A535E1-A86F-FD88-9C43-7191661170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78710493"/>
              </p:ext>
            </p:extLst>
          </p:nvPr>
        </p:nvGraphicFramePr>
        <p:xfrm>
          <a:off x="723901" y="1396180"/>
          <a:ext cx="7367282" cy="4913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FE03A5B-BEF1-7C84-F9C6-A4B433FEC2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9992" y="1190134"/>
            <a:ext cx="1781424" cy="262926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30A44EC-BBD5-1C44-E48D-A5E5AB689FA5}"/>
              </a:ext>
            </a:extLst>
          </p:cNvPr>
          <p:cNvSpPr txBox="1"/>
          <p:nvPr/>
        </p:nvSpPr>
        <p:spPr>
          <a:xfrm rot="10800000" flipV="1">
            <a:off x="8091183" y="3819401"/>
            <a:ext cx="404046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sz="1000" dirty="0"/>
              <a:t>Специальности из таблицы-справочника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9D578E63-7AE4-099C-77EA-953BAC03C4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2822" y="4065622"/>
            <a:ext cx="1755763" cy="211390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E34A1EB-54D4-DDF8-2A61-246D18FCBB88}"/>
              </a:ext>
            </a:extLst>
          </p:cNvPr>
          <p:cNvSpPr txBox="1"/>
          <p:nvPr/>
        </p:nvSpPr>
        <p:spPr>
          <a:xfrm rot="10800000" flipV="1">
            <a:off x="8185653" y="6089704"/>
            <a:ext cx="2070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Интерфейс дагов в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Apache Airflow</a:t>
            </a: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0143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4">
            <a:extLst>
              <a:ext uri="{FF2B5EF4-FFF2-40B4-BE49-F238E27FC236}">
                <a16:creationId xmlns:a16="http://schemas.microsoft.com/office/drawing/2014/main" id="{D933A912-4199-B1DF-1780-ED2988154FBA}"/>
              </a:ext>
            </a:extLst>
          </p:cNvPr>
          <p:cNvSpPr txBox="1">
            <a:spLocks/>
          </p:cNvSpPr>
          <p:nvPr/>
        </p:nvSpPr>
        <p:spPr>
          <a:xfrm>
            <a:off x="1143689" y="489947"/>
            <a:ext cx="1901825" cy="415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Факультет компьютерных наук</a:t>
            </a: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AC7CD02B-1047-B3CE-E119-3915E1BDBA29}"/>
              </a:ext>
            </a:extLst>
          </p:cNvPr>
          <p:cNvSpPr txBox="1">
            <a:spLocks/>
          </p:cNvSpPr>
          <p:nvPr/>
        </p:nvSpPr>
        <p:spPr>
          <a:xfrm>
            <a:off x="3538727" y="453449"/>
            <a:ext cx="2393381" cy="46688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cap="small">
                <a:latin typeface="Arial" panose="020B0604020202020204" pitchFamily="34" charset="0"/>
                <a:cs typeface="Arial" panose="020B0604020202020204" pitchFamily="34" charset="0"/>
              </a:rPr>
              <a:t>Разработка системы для сопоставления резюме и текстовых описаний вакансий для специалистов в области анализа данных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D6A52A85-172D-DFCD-F0B6-EED79A208A5D}"/>
              </a:ext>
            </a:extLst>
          </p:cNvPr>
          <p:cNvSpPr txBox="1">
            <a:spLocks/>
          </p:cNvSpPr>
          <p:nvPr/>
        </p:nvSpPr>
        <p:spPr>
          <a:xfrm>
            <a:off x="6259892" y="548720"/>
            <a:ext cx="2070100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Очистка текста и выделение признаков (</a:t>
            </a:r>
            <a:r>
              <a:rPr lang="en-US" dirty="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EDA</a:t>
            </a:r>
            <a:r>
              <a:rPr lang="ru-RU" dirty="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5" name="Схема 44">
            <a:extLst>
              <a:ext uri="{FF2B5EF4-FFF2-40B4-BE49-F238E27FC236}">
                <a16:creationId xmlns:a16="http://schemas.microsoft.com/office/drawing/2014/main" id="{9CCE0122-538B-3D11-B8DB-A686BEB43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3392723"/>
              </p:ext>
            </p:extLst>
          </p:nvPr>
        </p:nvGraphicFramePr>
        <p:xfrm>
          <a:off x="190500" y="781050"/>
          <a:ext cx="11820525" cy="57048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7" name="TextBox 46">
            <a:extLst>
              <a:ext uri="{FF2B5EF4-FFF2-40B4-BE49-F238E27FC236}">
                <a16:creationId xmlns:a16="http://schemas.microsoft.com/office/drawing/2014/main" id="{72B04DF5-84FC-4587-BA2C-55B646BF4993}"/>
              </a:ext>
            </a:extLst>
          </p:cNvPr>
          <p:cNvSpPr txBox="1"/>
          <p:nvPr/>
        </p:nvSpPr>
        <p:spPr>
          <a:xfrm>
            <a:off x="690796" y="1512578"/>
            <a:ext cx="78405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2400" b="1" dirty="0">
                <a:solidFill>
                  <a:srgbClr val="11182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Процесс обработки и очистки данных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3">
            <a:extLst>
              <a:ext uri="{FF2B5EF4-FFF2-40B4-BE49-F238E27FC236}">
                <a16:creationId xmlns:a16="http://schemas.microsoft.com/office/drawing/2014/main" id="{7181B5C6-D89D-6692-21D1-07EE4FD7D9A9}"/>
              </a:ext>
            </a:extLst>
          </p:cNvPr>
          <p:cNvSpPr/>
          <p:nvPr/>
        </p:nvSpPr>
        <p:spPr>
          <a:xfrm>
            <a:off x="828276" y="199863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Процесс представлен в файле</a:t>
            </a: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eda.ipynb</a:t>
            </a:r>
            <a:r>
              <a:rPr lang="ru-RU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</p:txBody>
      </p:sp>
      <p:sp>
        <p:nvSpPr>
          <p:cNvPr id="53" name="Shape 39">
            <a:extLst>
              <a:ext uri="{FF2B5EF4-FFF2-40B4-BE49-F238E27FC236}">
                <a16:creationId xmlns:a16="http://schemas.microsoft.com/office/drawing/2014/main" id="{90EC32B8-ADF9-1D47-294D-B9314BE19419}"/>
              </a:ext>
            </a:extLst>
          </p:cNvPr>
          <p:cNvSpPr/>
          <p:nvPr/>
        </p:nvSpPr>
        <p:spPr>
          <a:xfrm>
            <a:off x="805096" y="4924798"/>
            <a:ext cx="10377377" cy="420624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54" name="Text 40">
            <a:extLst>
              <a:ext uri="{FF2B5EF4-FFF2-40B4-BE49-F238E27FC236}">
                <a16:creationId xmlns:a16="http://schemas.microsoft.com/office/drawing/2014/main" id="{86D10184-6F15-6269-C1CF-1A6A29EAC104}"/>
              </a:ext>
            </a:extLst>
          </p:cNvPr>
          <p:cNvSpPr/>
          <p:nvPr/>
        </p:nvSpPr>
        <p:spPr>
          <a:xfrm>
            <a:off x="1079416" y="501623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300" b="1" dirty="0">
                <a:solidFill>
                  <a:srgbClr val="1E3A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Результат</a:t>
            </a:r>
          </a:p>
        </p:txBody>
      </p:sp>
      <p:sp>
        <p:nvSpPr>
          <p:cNvPr id="55" name="Text 41">
            <a:extLst>
              <a:ext uri="{FF2B5EF4-FFF2-40B4-BE49-F238E27FC236}">
                <a16:creationId xmlns:a16="http://schemas.microsoft.com/office/drawing/2014/main" id="{418DB020-6213-F148-377B-21D41BE92129}"/>
              </a:ext>
            </a:extLst>
          </p:cNvPr>
          <p:cNvSpPr/>
          <p:nvPr/>
        </p:nvSpPr>
        <p:spPr>
          <a:xfrm>
            <a:off x="3182536" y="4924798"/>
            <a:ext cx="7909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300" dirty="0">
                <a:latin typeface="Arial" panose="020B0604020202020204" pitchFamily="34" charset="0"/>
                <a:cs typeface="Arial" panose="020B0604020202020204" pitchFamily="34" charset="0"/>
              </a:rPr>
              <a:t>Атрибут с очищенным текстом, а также структурированные признаки для сопоставления резюме и вакансий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2383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ounded Rectangle 24">
            <a:extLst>
              <a:ext uri="{FF2B5EF4-FFF2-40B4-BE49-F238E27FC236}">
                <a16:creationId xmlns:a16="http://schemas.microsoft.com/office/drawing/2014/main" id="{AFC5B040-89F9-DD70-338C-4000F8B11572}"/>
              </a:ext>
            </a:extLst>
          </p:cNvPr>
          <p:cNvSpPr/>
          <p:nvPr/>
        </p:nvSpPr>
        <p:spPr>
          <a:xfrm>
            <a:off x="2003430" y="4620528"/>
            <a:ext cx="2619611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B2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C531B001-004B-5009-4AF9-1DAAB948A2DD}"/>
              </a:ext>
            </a:extLst>
          </p:cNvPr>
          <p:cNvSpPr txBox="1">
            <a:spLocks/>
          </p:cNvSpPr>
          <p:nvPr/>
        </p:nvSpPr>
        <p:spPr>
          <a:xfrm>
            <a:off x="1143689" y="489947"/>
            <a:ext cx="1901825" cy="415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Факультет компьютерных наук</a:t>
            </a: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Текст 5">
            <a:extLst>
              <a:ext uri="{FF2B5EF4-FFF2-40B4-BE49-F238E27FC236}">
                <a16:creationId xmlns:a16="http://schemas.microsoft.com/office/drawing/2014/main" id="{25D55CD7-E5EC-9218-94A9-BB0F2B8B32A7}"/>
              </a:ext>
            </a:extLst>
          </p:cNvPr>
          <p:cNvSpPr txBox="1">
            <a:spLocks/>
          </p:cNvSpPr>
          <p:nvPr/>
        </p:nvSpPr>
        <p:spPr>
          <a:xfrm>
            <a:off x="3538727" y="453449"/>
            <a:ext cx="2393381" cy="46688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cap="small" dirty="0">
                <a:latin typeface="Arial" panose="020B0604020202020204" pitchFamily="34" charset="0"/>
                <a:cs typeface="Arial" panose="020B0604020202020204" pitchFamily="34" charset="0"/>
              </a:rPr>
              <a:t>Разработка системы для сопоставления резюме и текстовых описаний вакансий для специалистов в области анализа данных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Текст 6">
            <a:extLst>
              <a:ext uri="{FF2B5EF4-FFF2-40B4-BE49-F238E27FC236}">
                <a16:creationId xmlns:a16="http://schemas.microsoft.com/office/drawing/2014/main" id="{43D32571-42FE-2A39-2B2C-682B885DBA93}"/>
              </a:ext>
            </a:extLst>
          </p:cNvPr>
          <p:cNvSpPr txBox="1">
            <a:spLocks/>
          </p:cNvSpPr>
          <p:nvPr/>
        </p:nvSpPr>
        <p:spPr>
          <a:xfrm>
            <a:off x="6259892" y="548720"/>
            <a:ext cx="2070100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Скоринг (формирование </a:t>
            </a:r>
            <a:r>
              <a:rPr lang="ru-RU" dirty="0" err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псевдотаргета</a:t>
            </a:r>
            <a:r>
              <a:rPr lang="ru-RU" dirty="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baseline</a:t>
            </a:r>
            <a:r>
              <a:rPr lang="ru-RU" dirty="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C16B40-F5AE-12E7-9396-B24B2FF31C73}"/>
              </a:ext>
            </a:extLst>
          </p:cNvPr>
          <p:cNvSpPr txBox="1"/>
          <p:nvPr/>
        </p:nvSpPr>
        <p:spPr>
          <a:xfrm>
            <a:off x="1559612" y="1085317"/>
            <a:ext cx="58179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1" dirty="0">
                <a:solidFill>
                  <a:srgbClr val="0A19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Формирование </a:t>
            </a:r>
            <a:r>
              <a:rPr lang="ru-RU" sz="2400" b="1" dirty="0" err="1">
                <a:solidFill>
                  <a:srgbClr val="0A19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псевдооценки</a:t>
            </a:r>
            <a:endParaRPr lang="ru-RU" sz="2400" b="1" dirty="0">
              <a:solidFill>
                <a:srgbClr val="0A19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7" name="Схема 16">
            <a:extLst>
              <a:ext uri="{FF2B5EF4-FFF2-40B4-BE49-F238E27FC236}">
                <a16:creationId xmlns:a16="http://schemas.microsoft.com/office/drawing/2014/main" id="{7DDAC048-5EB7-59C3-38D7-7630BD6198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2098386"/>
              </p:ext>
            </p:extLst>
          </p:nvPr>
        </p:nvGraphicFramePr>
        <p:xfrm>
          <a:off x="228547" y="1949184"/>
          <a:ext cx="6031345" cy="2470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C4B56184-9DC5-9C60-9C6E-E49B76F945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2745" y="1740902"/>
            <a:ext cx="5542379" cy="828791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FD71D85D-8B24-0186-769B-38F4ABDFBC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3019" y="2995201"/>
            <a:ext cx="4401164" cy="895475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F1AEB0E4-C7D2-0068-183E-1E01DDE20F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2852" y="3944636"/>
            <a:ext cx="4582164" cy="60015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02C7035-3433-F4CD-8343-94FDD4B5B4CA}"/>
              </a:ext>
            </a:extLst>
          </p:cNvPr>
          <p:cNvSpPr txBox="1"/>
          <p:nvPr/>
        </p:nvSpPr>
        <p:spPr>
          <a:xfrm>
            <a:off x="2105335" y="4641506"/>
            <a:ext cx="296417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300" b="1" dirty="0">
                <a:solidFill>
                  <a:srgbClr val="0A19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Формирование</a:t>
            </a:r>
            <a:r>
              <a:rPr lang="en-US" sz="1300" b="1" dirty="0">
                <a:solidFill>
                  <a:srgbClr val="0A19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300" b="1" dirty="0">
                <a:solidFill>
                  <a:srgbClr val="0A19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бинарного </a:t>
            </a:r>
            <a:r>
              <a:rPr lang="ru-RU" sz="1300" b="1" dirty="0" err="1">
                <a:solidFill>
                  <a:srgbClr val="0A19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псевдотаргета</a:t>
            </a:r>
            <a:endParaRPr lang="ru-RU" sz="1300" b="1" dirty="0">
              <a:solidFill>
                <a:srgbClr val="0A19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6FA196-CD83-6A8E-98E7-BFD831F1D285}"/>
              </a:ext>
            </a:extLst>
          </p:cNvPr>
          <p:cNvSpPr txBox="1"/>
          <p:nvPr/>
        </p:nvSpPr>
        <p:spPr>
          <a:xfrm>
            <a:off x="2306502" y="5201786"/>
            <a:ext cx="2102698" cy="123726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0" dirty="0">
                <a:solidFill>
                  <a:srgbClr val="0928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 5% </a:t>
            </a:r>
            <a:r>
              <a:rPr sz="1300" b="0" dirty="0" err="1">
                <a:solidFill>
                  <a:srgbClr val="0928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пар</a:t>
            </a:r>
            <a:r>
              <a:rPr sz="1300" b="0" dirty="0">
                <a:solidFill>
                  <a:srgbClr val="0928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300" b="0" dirty="0">
                <a:solidFill>
                  <a:srgbClr val="0928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sz="1300" b="0" dirty="0">
                <a:solidFill>
                  <a:srgbClr val="0928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target = 1</a:t>
            </a:r>
            <a:endParaRPr lang="en-US" sz="1300" b="0" dirty="0">
              <a:solidFill>
                <a:srgbClr val="09285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sz="1300" b="0" dirty="0">
                <a:solidFill>
                  <a:srgbClr val="0928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
bottom 20% </a:t>
            </a:r>
            <a:r>
              <a:rPr sz="1300" b="0" dirty="0" err="1">
                <a:solidFill>
                  <a:srgbClr val="0928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пар</a:t>
            </a:r>
            <a:r>
              <a:rPr sz="1300" b="0" dirty="0">
                <a:solidFill>
                  <a:srgbClr val="0928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300" b="0" dirty="0">
                <a:solidFill>
                  <a:srgbClr val="0928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sz="1300" b="0" dirty="0">
                <a:solidFill>
                  <a:srgbClr val="0928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target = 0</a:t>
            </a:r>
            <a:endParaRPr lang="en-US" sz="1300" b="0" dirty="0">
              <a:solidFill>
                <a:srgbClr val="09285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sz="1300" b="0" dirty="0">
                <a:solidFill>
                  <a:srgbClr val="0928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sz="1300" b="0" dirty="0" err="1">
                <a:solidFill>
                  <a:srgbClr val="0928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середина</a:t>
            </a:r>
            <a:r>
              <a:rPr sz="1300" b="0" dirty="0">
                <a:solidFill>
                  <a:srgbClr val="0928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300" b="0" dirty="0" err="1">
                <a:solidFill>
                  <a:srgbClr val="0928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исключается</a:t>
            </a:r>
            <a:endParaRPr sz="1300" b="0" dirty="0">
              <a:solidFill>
                <a:srgbClr val="09285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3">
            <a:extLst>
              <a:ext uri="{FF2B5EF4-FFF2-40B4-BE49-F238E27FC236}">
                <a16:creationId xmlns:a16="http://schemas.microsoft.com/office/drawing/2014/main" id="{3F792DD5-AAF7-408C-374D-2CF9C06621D4}"/>
              </a:ext>
            </a:extLst>
          </p:cNvPr>
          <p:cNvSpPr/>
          <p:nvPr/>
        </p:nvSpPr>
        <p:spPr>
          <a:xfrm>
            <a:off x="1676400" y="151728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300" dirty="0">
                <a:solidFill>
                  <a:srgbClr val="4B556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Процесс представлен в файле</a:t>
            </a:r>
            <a:r>
              <a:rPr lang="en-US" sz="1300" dirty="0">
                <a:solidFill>
                  <a:srgbClr val="4B556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4B556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baseline_new.ipynb</a:t>
            </a:r>
            <a:r>
              <a:rPr lang="ru-RU" sz="1300" dirty="0">
                <a:solidFill>
                  <a:srgbClr val="4B5563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875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4">
            <a:extLst>
              <a:ext uri="{FF2B5EF4-FFF2-40B4-BE49-F238E27FC236}">
                <a16:creationId xmlns:a16="http://schemas.microsoft.com/office/drawing/2014/main" id="{4C714BB4-47F3-2AA4-B6DE-8DA03C9D7506}"/>
              </a:ext>
            </a:extLst>
          </p:cNvPr>
          <p:cNvSpPr txBox="1">
            <a:spLocks/>
          </p:cNvSpPr>
          <p:nvPr/>
        </p:nvSpPr>
        <p:spPr>
          <a:xfrm>
            <a:off x="1143689" y="489947"/>
            <a:ext cx="1901825" cy="415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Факультет компьютерных наук</a:t>
            </a:r>
          </a:p>
          <a:p>
            <a:endParaRPr lang="ru-RU" dirty="0"/>
          </a:p>
        </p:txBody>
      </p:sp>
      <p:sp>
        <p:nvSpPr>
          <p:cNvPr id="13" name="Текст 5">
            <a:extLst>
              <a:ext uri="{FF2B5EF4-FFF2-40B4-BE49-F238E27FC236}">
                <a16:creationId xmlns:a16="http://schemas.microsoft.com/office/drawing/2014/main" id="{FC6AF495-2968-0539-3E2C-2EC36D9B8EDB}"/>
              </a:ext>
            </a:extLst>
          </p:cNvPr>
          <p:cNvSpPr txBox="1">
            <a:spLocks/>
          </p:cNvSpPr>
          <p:nvPr/>
        </p:nvSpPr>
        <p:spPr>
          <a:xfrm>
            <a:off x="3538727" y="453449"/>
            <a:ext cx="2393381" cy="46688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cap="small"/>
              <a:t>Разработка системы для сопоставления резюме и текстовых описаний вакансий для специалистов в области анализа данных</a:t>
            </a:r>
            <a:endParaRPr lang="ru-RU" dirty="0"/>
          </a:p>
        </p:txBody>
      </p:sp>
      <p:sp>
        <p:nvSpPr>
          <p:cNvPr id="14" name="Текст 6">
            <a:extLst>
              <a:ext uri="{FF2B5EF4-FFF2-40B4-BE49-F238E27FC236}">
                <a16:creationId xmlns:a16="http://schemas.microsoft.com/office/drawing/2014/main" id="{70786F29-224A-A9B4-F414-AF0C2830EF74}"/>
              </a:ext>
            </a:extLst>
          </p:cNvPr>
          <p:cNvSpPr txBox="1">
            <a:spLocks/>
          </p:cNvSpPr>
          <p:nvPr/>
        </p:nvSpPr>
        <p:spPr>
          <a:xfrm>
            <a:off x="6259892" y="548720"/>
            <a:ext cx="2070100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rgbClr val="111827"/>
                </a:solidFill>
              </a:rPr>
              <a:t>Ранжирование и оценка (</a:t>
            </a:r>
            <a:r>
              <a:rPr lang="en-US" dirty="0">
                <a:solidFill>
                  <a:srgbClr val="111827"/>
                </a:solidFill>
              </a:rPr>
              <a:t>baseline</a:t>
            </a:r>
            <a:r>
              <a:rPr lang="ru-RU" dirty="0">
                <a:solidFill>
                  <a:srgbClr val="111827"/>
                </a:solidFill>
              </a:rPr>
              <a:t>)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35B59C-BBCF-838B-FE74-B3A2FC4686E4}"/>
              </a:ext>
            </a:extLst>
          </p:cNvPr>
          <p:cNvSpPr txBox="1"/>
          <p:nvPr/>
        </p:nvSpPr>
        <p:spPr>
          <a:xfrm>
            <a:off x="1477587" y="1183029"/>
            <a:ext cx="3383280" cy="46166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 dirty="0" err="1">
                <a:solidFill>
                  <a:srgbClr val="071F53"/>
                </a:solidFill>
                <a:latin typeface="Arial"/>
              </a:rPr>
              <a:t>Обученные</a:t>
            </a:r>
            <a:r>
              <a:rPr sz="2400" b="1" dirty="0">
                <a:solidFill>
                  <a:srgbClr val="071F53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071F53"/>
                </a:solidFill>
                <a:latin typeface="Arial"/>
              </a:rPr>
              <a:t>модели</a:t>
            </a:r>
            <a:endParaRPr sz="2400" b="1" dirty="0">
              <a:solidFill>
                <a:srgbClr val="071F53"/>
              </a:solidFill>
              <a:latin typeface="Arial"/>
            </a:endParaRPr>
          </a:p>
        </p:txBody>
      </p:sp>
      <p:sp>
        <p:nvSpPr>
          <p:cNvPr id="16" name="Rounded Rectangle 43">
            <a:extLst>
              <a:ext uri="{FF2B5EF4-FFF2-40B4-BE49-F238E27FC236}">
                <a16:creationId xmlns:a16="http://schemas.microsoft.com/office/drawing/2014/main" id="{964EC6E5-AB82-4806-CC7E-DDFF0544CDFE}"/>
              </a:ext>
            </a:extLst>
          </p:cNvPr>
          <p:cNvSpPr/>
          <p:nvPr/>
        </p:nvSpPr>
        <p:spPr>
          <a:xfrm>
            <a:off x="1312995" y="1846472"/>
            <a:ext cx="3383280" cy="1582528"/>
          </a:xfrm>
          <a:prstGeom prst="roundRect">
            <a:avLst/>
          </a:prstGeom>
          <a:solidFill>
            <a:srgbClr val="F8FAFF"/>
          </a:solidFill>
          <a:ln w="15240">
            <a:solidFill>
              <a:srgbClr val="071F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2CB5B4-8781-15B5-643E-6B893B1E7B9A}"/>
              </a:ext>
            </a:extLst>
          </p:cNvPr>
          <p:cNvSpPr txBox="1"/>
          <p:nvPr/>
        </p:nvSpPr>
        <p:spPr>
          <a:xfrm>
            <a:off x="1450156" y="1877062"/>
            <a:ext cx="2788920" cy="2923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50" b="1" dirty="0">
                <a:solidFill>
                  <a:srgbClr val="071F53"/>
                </a:solidFill>
                <a:latin typeface="Arial"/>
              </a:rPr>
              <a:t>TF‑IDF + </a:t>
            </a:r>
            <a:r>
              <a:rPr sz="1300" b="1" dirty="0" err="1">
                <a:solidFill>
                  <a:srgbClr val="071F53"/>
                </a:solidFill>
                <a:latin typeface="Arial"/>
              </a:rPr>
              <a:t>LogisticRegression</a:t>
            </a:r>
            <a:endParaRPr sz="1300" b="1" dirty="0">
              <a:solidFill>
                <a:srgbClr val="071F53"/>
              </a:solidFill>
              <a:latin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0C131D-D7FA-5ABF-6626-122E891072AB}"/>
              </a:ext>
            </a:extLst>
          </p:cNvPr>
          <p:cNvSpPr txBox="1"/>
          <p:nvPr/>
        </p:nvSpPr>
        <p:spPr>
          <a:xfrm>
            <a:off x="1477586" y="2183276"/>
            <a:ext cx="3052849" cy="11028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dirty="0">
                <a:solidFill>
                  <a:srgbClr val="0A2355"/>
                </a:solidFill>
                <a:latin typeface="Arial"/>
              </a:rPr>
              <a:t>• </a:t>
            </a:r>
            <a:r>
              <a:rPr lang="ru-RU" sz="1300" dirty="0">
                <a:solidFill>
                  <a:srgbClr val="0A2355"/>
                </a:solidFill>
                <a:latin typeface="Arial"/>
              </a:rPr>
              <a:t>объединенный текст пары «резюме + вакансия»</a:t>
            </a:r>
          </a:p>
          <a:p>
            <a:pPr algn="l">
              <a:spcAft>
                <a:spcPts val="400"/>
              </a:spcAft>
            </a:pPr>
            <a:r>
              <a:rPr lang="ru-RU" sz="1300" dirty="0">
                <a:solidFill>
                  <a:srgbClr val="0A2355"/>
                </a:solidFill>
                <a:latin typeface="Arial"/>
              </a:rPr>
              <a:t>• </a:t>
            </a:r>
            <a:r>
              <a:rPr lang="en-US" sz="1300" dirty="0">
                <a:solidFill>
                  <a:srgbClr val="0A2355"/>
                </a:solidFill>
                <a:latin typeface="Arial"/>
              </a:rPr>
              <a:t>TF‑IDF: 20 000 </a:t>
            </a:r>
            <a:r>
              <a:rPr lang="ru-RU" sz="1300" dirty="0">
                <a:solidFill>
                  <a:srgbClr val="0A2355"/>
                </a:solidFill>
                <a:latin typeface="Arial"/>
              </a:rPr>
              <a:t>признаков, </a:t>
            </a:r>
            <a:r>
              <a:rPr lang="en-US" sz="1300" dirty="0" err="1">
                <a:solidFill>
                  <a:srgbClr val="0A2355"/>
                </a:solidFill>
                <a:latin typeface="Arial"/>
              </a:rPr>
              <a:t>min_df</a:t>
            </a:r>
            <a:r>
              <a:rPr lang="en-US" sz="1300" dirty="0">
                <a:solidFill>
                  <a:srgbClr val="0A2355"/>
                </a:solidFill>
                <a:latin typeface="Arial"/>
              </a:rPr>
              <a:t>=5</a:t>
            </a:r>
          </a:p>
          <a:p>
            <a:pPr algn="l">
              <a:spcAft>
                <a:spcPts val="400"/>
              </a:spcAft>
            </a:pPr>
            <a:r>
              <a:rPr lang="en-US" sz="1300" dirty="0">
                <a:solidFill>
                  <a:srgbClr val="0A2355"/>
                </a:solidFill>
                <a:latin typeface="Arial"/>
              </a:rPr>
              <a:t>• </a:t>
            </a:r>
            <a:r>
              <a:rPr lang="en-US" sz="1300" dirty="0" err="1">
                <a:solidFill>
                  <a:srgbClr val="0A2355"/>
                </a:solidFill>
                <a:latin typeface="Arial"/>
              </a:rPr>
              <a:t>LogisticRegression</a:t>
            </a:r>
            <a:r>
              <a:rPr lang="en-US" sz="1300" dirty="0">
                <a:solidFill>
                  <a:srgbClr val="0A2355"/>
                </a:solidFill>
                <a:latin typeface="Arial"/>
              </a:rPr>
              <a:t> </a:t>
            </a:r>
            <a:r>
              <a:rPr lang="ru-RU" sz="1300" dirty="0">
                <a:solidFill>
                  <a:srgbClr val="0A2355"/>
                </a:solidFill>
                <a:latin typeface="Arial"/>
              </a:rPr>
              <a:t>с </a:t>
            </a:r>
            <a:r>
              <a:rPr lang="en-US" sz="1300" dirty="0" err="1">
                <a:solidFill>
                  <a:srgbClr val="0A2355"/>
                </a:solidFill>
                <a:latin typeface="Arial"/>
              </a:rPr>
              <a:t>class_weight</a:t>
            </a:r>
            <a:r>
              <a:rPr lang="en-US" sz="1300" dirty="0">
                <a:solidFill>
                  <a:srgbClr val="0A2355"/>
                </a:solidFill>
                <a:latin typeface="Arial"/>
              </a:rPr>
              <a:t>="balanced"</a:t>
            </a:r>
          </a:p>
        </p:txBody>
      </p:sp>
      <p:sp>
        <p:nvSpPr>
          <p:cNvPr id="19" name="Rounded Rectangle 46">
            <a:extLst>
              <a:ext uri="{FF2B5EF4-FFF2-40B4-BE49-F238E27FC236}">
                <a16:creationId xmlns:a16="http://schemas.microsoft.com/office/drawing/2014/main" id="{AF542F43-AF4C-5BCE-5096-6C41E16ACEFA}"/>
              </a:ext>
            </a:extLst>
          </p:cNvPr>
          <p:cNvSpPr/>
          <p:nvPr/>
        </p:nvSpPr>
        <p:spPr>
          <a:xfrm>
            <a:off x="1312995" y="3811341"/>
            <a:ext cx="3383280" cy="1661676"/>
          </a:xfrm>
          <a:prstGeom prst="roundRect">
            <a:avLst/>
          </a:prstGeom>
          <a:solidFill>
            <a:srgbClr val="F8FAFF"/>
          </a:solidFill>
          <a:ln w="15240">
            <a:solidFill>
              <a:srgbClr val="071F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151415-01DC-A8D5-592E-A49BD563225F}"/>
              </a:ext>
            </a:extLst>
          </p:cNvPr>
          <p:cNvSpPr txBox="1"/>
          <p:nvPr/>
        </p:nvSpPr>
        <p:spPr>
          <a:xfrm>
            <a:off x="1450155" y="3852599"/>
            <a:ext cx="3080280" cy="2923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 dirty="0">
                <a:solidFill>
                  <a:srgbClr val="071F53"/>
                </a:solidFill>
                <a:latin typeface="Arial"/>
              </a:rPr>
              <a:t>Embeddings + </a:t>
            </a:r>
            <a:r>
              <a:rPr sz="1300" b="1" dirty="0" err="1">
                <a:solidFill>
                  <a:srgbClr val="071F53"/>
                </a:solidFill>
                <a:latin typeface="Arial"/>
              </a:rPr>
              <a:t>LogisticRegression</a:t>
            </a:r>
            <a:endParaRPr sz="1300" b="1" dirty="0">
              <a:solidFill>
                <a:srgbClr val="071F53"/>
              </a:solidFill>
              <a:latin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769681-998C-F2EE-F599-379313002DDA}"/>
              </a:ext>
            </a:extLst>
          </p:cNvPr>
          <p:cNvSpPr txBox="1"/>
          <p:nvPr/>
        </p:nvSpPr>
        <p:spPr>
          <a:xfrm>
            <a:off x="1477585" y="4158813"/>
            <a:ext cx="3052849" cy="9028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300" dirty="0">
                <a:solidFill>
                  <a:srgbClr val="0A2355"/>
                </a:solidFill>
                <a:latin typeface="Arial"/>
              </a:rPr>
              <a:t>• векторные представления текстов</a:t>
            </a:r>
          </a:p>
          <a:p>
            <a:pPr algn="l">
              <a:spcAft>
                <a:spcPts val="400"/>
              </a:spcAft>
            </a:pPr>
            <a:r>
              <a:rPr lang="ru-RU" sz="1300" dirty="0">
                <a:solidFill>
                  <a:srgbClr val="0A2355"/>
                </a:solidFill>
                <a:latin typeface="Arial"/>
              </a:rPr>
              <a:t>• признаки взаимодействия: |r−v| и </a:t>
            </a:r>
            <a:r>
              <a:rPr lang="ru-RU" sz="1300" dirty="0" err="1">
                <a:solidFill>
                  <a:srgbClr val="0A2355"/>
                </a:solidFill>
                <a:latin typeface="Arial"/>
              </a:rPr>
              <a:t>r×v</a:t>
            </a:r>
            <a:endParaRPr lang="ru-RU" sz="1300" dirty="0">
              <a:solidFill>
                <a:srgbClr val="0A2355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lang="ru-RU" sz="1300" dirty="0">
                <a:solidFill>
                  <a:srgbClr val="0A2355"/>
                </a:solidFill>
                <a:latin typeface="Arial"/>
              </a:rPr>
              <a:t>• ранжирование по вероятности релевантности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BEDE3E-CB5B-A3D8-9D69-6A1928A4FC28}"/>
              </a:ext>
            </a:extLst>
          </p:cNvPr>
          <p:cNvSpPr txBox="1"/>
          <p:nvPr/>
        </p:nvSpPr>
        <p:spPr>
          <a:xfrm>
            <a:off x="6062566" y="3725714"/>
            <a:ext cx="3657600" cy="30008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50" b="1" dirty="0" err="1">
                <a:solidFill>
                  <a:srgbClr val="071F53"/>
                </a:solidFill>
                <a:latin typeface="Arial"/>
              </a:rPr>
              <a:t>Результаты</a:t>
            </a:r>
            <a:r>
              <a:rPr sz="1350" b="1" dirty="0">
                <a:solidFill>
                  <a:srgbClr val="071F53"/>
                </a:solidFill>
                <a:latin typeface="Arial"/>
              </a:rPr>
              <a:t> </a:t>
            </a:r>
            <a:r>
              <a:rPr sz="1350" b="1" dirty="0" err="1">
                <a:solidFill>
                  <a:srgbClr val="071F53"/>
                </a:solidFill>
                <a:latin typeface="Arial"/>
              </a:rPr>
              <a:t>оценки</a:t>
            </a:r>
            <a:endParaRPr sz="1350" b="1" dirty="0">
              <a:solidFill>
                <a:srgbClr val="071F53"/>
              </a:solidFill>
              <a:latin typeface="Arial"/>
            </a:endParaRPr>
          </a:p>
        </p:txBody>
      </p:sp>
      <p:graphicFrame>
        <p:nvGraphicFramePr>
          <p:cNvPr id="23" name="Table 50">
            <a:extLst>
              <a:ext uri="{FF2B5EF4-FFF2-40B4-BE49-F238E27FC236}">
                <a16:creationId xmlns:a16="http://schemas.microsoft.com/office/drawing/2014/main" id="{DDA620DD-8C84-3EFE-C046-6FB4ADA0B8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315952"/>
              </p:ext>
            </p:extLst>
          </p:nvPr>
        </p:nvGraphicFramePr>
        <p:xfrm>
          <a:off x="5216561" y="4121387"/>
          <a:ext cx="5497853" cy="18790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5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0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08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34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97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6353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Модель</a:t>
                      </a:r>
                    </a:p>
                  </a:txBody>
                  <a:tcPr>
                    <a:solidFill>
                      <a:srgbClr val="4471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Pseudo@5</a:t>
                      </a:r>
                    </a:p>
                  </a:txBody>
                  <a:tcPr>
                    <a:solidFill>
                      <a:srgbClr val="4471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Skill@5</a:t>
                      </a:r>
                    </a:p>
                  </a:txBody>
                  <a:tcPr>
                    <a:solidFill>
                      <a:srgbClr val="4471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Exp@5</a:t>
                      </a:r>
                    </a:p>
                  </a:txBody>
                  <a:tcPr>
                    <a:solidFill>
                      <a:srgbClr val="4471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ROC‑AUC</a:t>
                      </a:r>
                    </a:p>
                  </a:txBody>
                  <a:tcPr>
                    <a:solidFill>
                      <a:srgbClr val="4471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</a:rPr>
                        <a:t>F1</a:t>
                      </a:r>
                    </a:p>
                  </a:txBody>
                  <a:tcPr>
                    <a:solidFill>
                      <a:srgbClr val="4471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6353">
                <a:tc>
                  <a:txBody>
                    <a:bodyPr/>
                    <a:lstStyle/>
                    <a:p>
                      <a:pPr algn="l"/>
                      <a:r>
                        <a:rPr sz="819" b="1" dirty="0">
                          <a:solidFill>
                            <a:srgbClr val="0A2355"/>
                          </a:solidFill>
                          <a:latin typeface="Arial"/>
                        </a:rPr>
                        <a:t>TF‑IDF + LR</a:t>
                      </a:r>
                    </a:p>
                  </a:txBody>
                  <a:tcPr>
                    <a:solidFill>
                      <a:srgbClr val="E7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0A2355"/>
                          </a:solidFill>
                          <a:latin typeface="Arial"/>
                        </a:rPr>
                        <a:t>0.713</a:t>
                      </a:r>
                    </a:p>
                  </a:txBody>
                  <a:tcPr>
                    <a:solidFill>
                      <a:srgbClr val="E7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0A2355"/>
                          </a:solidFill>
                          <a:latin typeface="Arial"/>
                        </a:rPr>
                        <a:t>0.642</a:t>
                      </a:r>
                    </a:p>
                  </a:txBody>
                  <a:tcPr>
                    <a:solidFill>
                      <a:srgbClr val="E7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0A2355"/>
                          </a:solidFill>
                          <a:latin typeface="Arial"/>
                        </a:rPr>
                        <a:t>0.855</a:t>
                      </a:r>
                    </a:p>
                  </a:txBody>
                  <a:tcPr>
                    <a:solidFill>
                      <a:srgbClr val="E7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 dirty="0">
                          <a:solidFill>
                            <a:srgbClr val="0A2355"/>
                          </a:solidFill>
                          <a:latin typeface="Arial"/>
                        </a:rPr>
                        <a:t>0.927</a:t>
                      </a:r>
                    </a:p>
                  </a:txBody>
                  <a:tcPr>
                    <a:solidFill>
                      <a:srgbClr val="E7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0A2355"/>
                          </a:solidFill>
                          <a:latin typeface="Arial"/>
                        </a:rPr>
                        <a:t>0.703</a:t>
                      </a:r>
                    </a:p>
                  </a:txBody>
                  <a:tcPr>
                    <a:solidFill>
                      <a:srgbClr val="E7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6353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0A2355"/>
                          </a:solidFill>
                          <a:latin typeface="Arial"/>
                        </a:rPr>
                        <a:t>Embeddings + LR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 dirty="0">
                          <a:solidFill>
                            <a:srgbClr val="0A2355"/>
                          </a:solidFill>
                          <a:latin typeface="Arial"/>
                        </a:rPr>
                        <a:t>0.541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 dirty="0">
                          <a:solidFill>
                            <a:srgbClr val="0A2355"/>
                          </a:solidFill>
                          <a:latin typeface="Arial"/>
                        </a:rPr>
                        <a:t>0.382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 dirty="0">
                          <a:solidFill>
                            <a:srgbClr val="0A2355"/>
                          </a:solidFill>
                          <a:latin typeface="Arial"/>
                        </a:rPr>
                        <a:t>0.864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 dirty="0">
                          <a:solidFill>
                            <a:srgbClr val="0A2355"/>
                          </a:solidFill>
                          <a:latin typeface="Arial"/>
                        </a:rPr>
                        <a:t>0.825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 dirty="0">
                          <a:solidFill>
                            <a:srgbClr val="0A2355"/>
                          </a:solidFill>
                          <a:latin typeface="Arial"/>
                        </a:rPr>
                        <a:t>0.588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7" name="Rounded Rectangle 43">
            <a:extLst>
              <a:ext uri="{FF2B5EF4-FFF2-40B4-BE49-F238E27FC236}">
                <a16:creationId xmlns:a16="http://schemas.microsoft.com/office/drawing/2014/main" id="{2AF08000-57FC-0D67-9F2B-F7B16BC096F2}"/>
              </a:ext>
            </a:extLst>
          </p:cNvPr>
          <p:cNvSpPr/>
          <p:nvPr/>
        </p:nvSpPr>
        <p:spPr>
          <a:xfrm>
            <a:off x="5407455" y="1644694"/>
            <a:ext cx="4526694" cy="1879060"/>
          </a:xfrm>
          <a:prstGeom prst="roundRect">
            <a:avLst/>
          </a:prstGeom>
          <a:solidFill>
            <a:srgbClr val="F8FAFF"/>
          </a:solidFill>
          <a:ln w="15240">
            <a:solidFill>
              <a:srgbClr val="071F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4A0DC2A-C598-E192-635F-331ACD41B25A}"/>
              </a:ext>
            </a:extLst>
          </p:cNvPr>
          <p:cNvSpPr txBox="1"/>
          <p:nvPr/>
        </p:nvSpPr>
        <p:spPr>
          <a:xfrm>
            <a:off x="5718951" y="1720999"/>
            <a:ext cx="2788920" cy="2923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lang="ru-RU" sz="1300" b="1" dirty="0">
                <a:solidFill>
                  <a:srgbClr val="071F53"/>
                </a:solidFill>
                <a:latin typeface="Arial"/>
              </a:rPr>
              <a:t>Ранжирование</a:t>
            </a:r>
            <a:endParaRPr sz="1300" b="1" dirty="0">
              <a:solidFill>
                <a:srgbClr val="071F53"/>
              </a:solidFill>
              <a:latin typeface="Arial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C5991A-A8C9-F410-355F-334C16011BDF}"/>
              </a:ext>
            </a:extLst>
          </p:cNvPr>
          <p:cNvSpPr txBox="1"/>
          <p:nvPr/>
        </p:nvSpPr>
        <p:spPr>
          <a:xfrm>
            <a:off x="5718951" y="2070017"/>
            <a:ext cx="3657600" cy="11028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lang="ru-RU" sz="1300" dirty="0">
                <a:solidFill>
                  <a:srgbClr val="0A2355"/>
                </a:solidFill>
                <a:latin typeface="Arial"/>
              </a:rPr>
              <a:t>• Ранжирование выполняется по </a:t>
            </a:r>
            <a:r>
              <a:rPr lang="ru-RU" sz="1300" dirty="0" err="1">
                <a:solidFill>
                  <a:srgbClr val="0A2355"/>
                </a:solidFill>
                <a:latin typeface="Arial"/>
              </a:rPr>
              <a:t>model_score</a:t>
            </a:r>
            <a:r>
              <a:rPr lang="ru-RU" sz="1300" dirty="0">
                <a:solidFill>
                  <a:srgbClr val="0A2355"/>
                </a:solidFill>
                <a:latin typeface="Arial"/>
              </a:rPr>
              <a:t>:</a:t>
            </a:r>
          </a:p>
          <a:p>
            <a:pPr>
              <a:spcAft>
                <a:spcPts val="400"/>
              </a:spcAft>
            </a:pPr>
            <a:r>
              <a:rPr lang="ru-RU" sz="1300" dirty="0">
                <a:solidFill>
                  <a:srgbClr val="0A2355"/>
                </a:solidFill>
                <a:latin typeface="Arial"/>
              </a:rPr>
              <a:t>• Для каждой пары «резюме-вакансия» модель оценивает вероятность релевантности,</a:t>
            </a:r>
          </a:p>
          <a:p>
            <a:pPr>
              <a:spcAft>
                <a:spcPts val="400"/>
              </a:spcAft>
            </a:pPr>
            <a:r>
              <a:rPr lang="ru-RU" sz="1300" dirty="0">
                <a:solidFill>
                  <a:srgbClr val="0A2355"/>
                </a:solidFill>
                <a:latin typeface="Arial"/>
              </a:rPr>
              <a:t>• После чего для каждого резюме выбираются top-5 вакансий с максимальным </a:t>
            </a:r>
            <a:r>
              <a:rPr lang="ru-RU" sz="1300" dirty="0" err="1">
                <a:solidFill>
                  <a:srgbClr val="0A2355"/>
                </a:solidFill>
                <a:latin typeface="Arial"/>
              </a:rPr>
              <a:t>score</a:t>
            </a:r>
            <a:r>
              <a:rPr lang="ru-RU" sz="1300" dirty="0">
                <a:solidFill>
                  <a:srgbClr val="0A2355"/>
                </a:solidFill>
                <a:latin typeface="Arial"/>
              </a:rPr>
              <a:t>.</a:t>
            </a:r>
            <a:endParaRPr lang="en-US" sz="1300" dirty="0">
              <a:solidFill>
                <a:srgbClr val="0A2355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38945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4">
            <a:extLst>
              <a:ext uri="{FF2B5EF4-FFF2-40B4-BE49-F238E27FC236}">
                <a16:creationId xmlns:a16="http://schemas.microsoft.com/office/drawing/2014/main" id="{A795430F-CBD0-AD90-4223-D46B61CD7220}"/>
              </a:ext>
            </a:extLst>
          </p:cNvPr>
          <p:cNvSpPr txBox="1">
            <a:spLocks/>
          </p:cNvSpPr>
          <p:nvPr/>
        </p:nvSpPr>
        <p:spPr>
          <a:xfrm>
            <a:off x="1143689" y="489947"/>
            <a:ext cx="1901825" cy="415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Факультет компьютерных наук</a:t>
            </a: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D925C747-14D6-4FB7-10FB-90E76C4299AE}"/>
              </a:ext>
            </a:extLst>
          </p:cNvPr>
          <p:cNvSpPr txBox="1">
            <a:spLocks/>
          </p:cNvSpPr>
          <p:nvPr/>
        </p:nvSpPr>
        <p:spPr>
          <a:xfrm>
            <a:off x="3538727" y="453449"/>
            <a:ext cx="2393381" cy="46688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cap="small">
                <a:latin typeface="Arial" panose="020B0604020202020204" pitchFamily="34" charset="0"/>
                <a:cs typeface="Arial" panose="020B0604020202020204" pitchFamily="34" charset="0"/>
              </a:rPr>
              <a:t>Разработка системы для сопоставления резюме и текстовых описаний вакансий для специалистов в области анализа данных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C2C67470-277E-5F4D-668D-F0CA12646317}"/>
              </a:ext>
            </a:extLst>
          </p:cNvPr>
          <p:cNvSpPr txBox="1">
            <a:spLocks/>
          </p:cNvSpPr>
          <p:nvPr/>
        </p:nvSpPr>
        <p:spPr>
          <a:xfrm>
            <a:off x="6259892" y="548720"/>
            <a:ext cx="2070100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UI (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демонстрация результата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- шаблон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0DE3057-32FE-B648-C981-CCAB4D33D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626" y="1107392"/>
            <a:ext cx="7709366" cy="520188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A511E98-2209-B70E-233B-77276A6AD6C2}"/>
              </a:ext>
            </a:extLst>
          </p:cNvPr>
          <p:cNvSpPr txBox="1"/>
          <p:nvPr/>
        </p:nvSpPr>
        <p:spPr>
          <a:xfrm>
            <a:off x="8473963" y="1288473"/>
            <a:ext cx="318741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Основные блоки интерфейса</a:t>
            </a: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1. Блок выбранного резюме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2. Блок рекомендованных вакансий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3. Блок краткой оценки совпадения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4. Блок деталей совпадения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5. Блок сравнения навыков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6. Блок соответствия опыта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7. Блок описания работы</a:t>
            </a:r>
          </a:p>
        </p:txBody>
      </p:sp>
    </p:spTree>
    <p:extLst>
      <p:ext uri="{BB962C8B-B14F-4D97-AF65-F5344CB8AC3E}">
        <p14:creationId xmlns:p14="http://schemas.microsoft.com/office/powerpoint/2010/main" val="425016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4">
            <a:extLst>
              <a:ext uri="{FF2B5EF4-FFF2-40B4-BE49-F238E27FC236}">
                <a16:creationId xmlns:a16="http://schemas.microsoft.com/office/drawing/2014/main" id="{73C90851-3D41-ADB4-5D4E-C03CA5E423EE}"/>
              </a:ext>
            </a:extLst>
          </p:cNvPr>
          <p:cNvSpPr txBox="1">
            <a:spLocks/>
          </p:cNvSpPr>
          <p:nvPr/>
        </p:nvSpPr>
        <p:spPr>
          <a:xfrm>
            <a:off x="1143689" y="489947"/>
            <a:ext cx="1901825" cy="415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Факультет компьютерных наук</a:t>
            </a:r>
          </a:p>
          <a:p>
            <a:endParaRPr lang="ru-RU" dirty="0"/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6604AB55-EFD0-0B63-2E18-D1787A8EFB00}"/>
              </a:ext>
            </a:extLst>
          </p:cNvPr>
          <p:cNvSpPr txBox="1">
            <a:spLocks/>
          </p:cNvSpPr>
          <p:nvPr/>
        </p:nvSpPr>
        <p:spPr>
          <a:xfrm>
            <a:off x="3538727" y="453449"/>
            <a:ext cx="2393381" cy="46688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cap="small"/>
              <a:t>Разработка системы для сопоставления резюме и текстовых описаний вакансий для специалистов в области анализа данных</a:t>
            </a:r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FC8A6101-0B45-E9D9-E850-2159CEBA75A7}"/>
              </a:ext>
            </a:extLst>
          </p:cNvPr>
          <p:cNvSpPr txBox="1">
            <a:spLocks/>
          </p:cNvSpPr>
          <p:nvPr/>
        </p:nvSpPr>
        <p:spPr>
          <a:xfrm>
            <a:off x="6259892" y="548720"/>
            <a:ext cx="2070100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Вывод</a:t>
            </a:r>
            <a:endParaRPr lang="en-US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6400B412-92BE-A4DF-2E60-6F0FEC4B279A}"/>
              </a:ext>
            </a:extLst>
          </p:cNvPr>
          <p:cNvSpPr/>
          <p:nvPr/>
        </p:nvSpPr>
        <p:spPr>
          <a:xfrm>
            <a:off x="518160" y="125761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</a:t>
            </a:r>
            <a:endParaRPr lang="en-US" sz="25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D6F4E3-0CD4-431C-7510-948B868993D3}"/>
              </a:ext>
            </a:extLst>
          </p:cNvPr>
          <p:cNvSpPr txBox="1"/>
          <p:nvPr/>
        </p:nvSpPr>
        <p:spPr>
          <a:xfrm>
            <a:off x="1020906" y="1928797"/>
            <a:ext cx="850755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 ходе работы был реализован полный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пайплайн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сопоставления резюме и вакансий: от автоматического сбора данных с HH.ru до обучения моделей и формирования top-5 рекомендаций.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Ключевая особенность задачи — отсутствие ручной разметки релевантных пар «резюме — вакансия». Поэтому была сформирована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псевдоразметка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на основе совпадения навыков и соответствия опыта.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 качестве моделей были рассмотрены TF-IDF +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LogisticRegression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Embeddings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LogisticRegression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 Лучший результат показала модель TF-IDF +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LogisticRegression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так как для данной задачи важны конкретные навыки, технологии и формулировки.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Итоговая система ранжирует вакансии по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model_score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и позволяет объяснить результат через три компонента: семантическое сходство, навыки и опыт.</a:t>
            </a:r>
          </a:p>
        </p:txBody>
      </p:sp>
    </p:spTree>
    <p:extLst>
      <p:ext uri="{BB962C8B-B14F-4D97-AF65-F5344CB8AC3E}">
        <p14:creationId xmlns:p14="http://schemas.microsoft.com/office/powerpoint/2010/main" val="1329595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4">
            <a:extLst>
              <a:ext uri="{FF2B5EF4-FFF2-40B4-BE49-F238E27FC236}">
                <a16:creationId xmlns:a16="http://schemas.microsoft.com/office/drawing/2014/main" id="{2ECA32F6-55A9-C334-10C8-052F32081903}"/>
              </a:ext>
            </a:extLst>
          </p:cNvPr>
          <p:cNvSpPr txBox="1">
            <a:spLocks/>
          </p:cNvSpPr>
          <p:nvPr/>
        </p:nvSpPr>
        <p:spPr>
          <a:xfrm>
            <a:off x="1143689" y="489947"/>
            <a:ext cx="1901825" cy="415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Факультет компьютерных наук</a:t>
            </a:r>
          </a:p>
          <a:p>
            <a:endParaRPr lang="ru-RU" dirty="0"/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ECFDF03C-1A4B-B856-E537-0345B0A1E4C2}"/>
              </a:ext>
            </a:extLst>
          </p:cNvPr>
          <p:cNvSpPr txBox="1">
            <a:spLocks/>
          </p:cNvSpPr>
          <p:nvPr/>
        </p:nvSpPr>
        <p:spPr>
          <a:xfrm>
            <a:off x="3538727" y="453449"/>
            <a:ext cx="2393381" cy="46688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cap="small"/>
              <a:t>Разработка системы для сопоставления резюме и текстовых описаний вакансий для специалистов в области анализа данных</a:t>
            </a:r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3332CBCD-A546-87D3-3961-1AA532B5563E}"/>
              </a:ext>
            </a:extLst>
          </p:cNvPr>
          <p:cNvSpPr txBox="1">
            <a:spLocks/>
          </p:cNvSpPr>
          <p:nvPr/>
        </p:nvSpPr>
        <p:spPr>
          <a:xfrm>
            <a:off x="6259892" y="548720"/>
            <a:ext cx="2070100" cy="408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Варианты улучшения решения</a:t>
            </a:r>
            <a:endParaRPr lang="en-US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88D434A6-451C-2DC6-CB0C-5D0D5C9E94B1}"/>
              </a:ext>
            </a:extLst>
          </p:cNvPr>
          <p:cNvSpPr/>
          <p:nvPr/>
        </p:nvSpPr>
        <p:spPr>
          <a:xfrm>
            <a:off x="688397" y="1298883"/>
            <a:ext cx="41577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Улучшения в рамках ВКР</a:t>
            </a: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BCD2506D-CDD7-ACD8-FFB3-7375B1CAAD6B}"/>
              </a:ext>
            </a:extLst>
          </p:cNvPr>
          <p:cNvSpPr/>
          <p:nvPr/>
        </p:nvSpPr>
        <p:spPr>
          <a:xfrm>
            <a:off x="5932108" y="1282302"/>
            <a:ext cx="52453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Дальнейшее улучшение сервиса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A8D4BB-AE4E-5D66-1340-46F23AD046AD}"/>
              </a:ext>
            </a:extLst>
          </p:cNvPr>
          <p:cNvSpPr txBox="1"/>
          <p:nvPr/>
        </p:nvSpPr>
        <p:spPr>
          <a:xfrm>
            <a:off x="607260" y="1968253"/>
            <a:ext cx="432002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Доработка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Дальнейшие эксперименты с моделью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Доработка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65249F-598C-E149-07EC-984C2D88240B}"/>
              </a:ext>
            </a:extLst>
          </p:cNvPr>
          <p:cNvSpPr txBox="1"/>
          <p:nvPr/>
        </p:nvSpPr>
        <p:spPr>
          <a:xfrm>
            <a:off x="5932108" y="1951672"/>
            <a:ext cx="609426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Улучшение сбора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Улучшение извлечения признаков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Использование более сильных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embedding-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моделей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Экспертная валидация результатов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Развитие интерфейса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3931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31B4E-0E03-A7A2-C5D3-BD3AF8A8E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3739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00" dirty="0">
            <a:latin typeface="HSE Sans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A9C74E6E830D74E9B0FDDB4017A5417" ma:contentTypeVersion="13" ma:contentTypeDescription="Создание документа." ma:contentTypeScope="" ma:versionID="d4e423622451d608a8a05f4da7a1e1a2">
  <xsd:schema xmlns:xsd="http://www.w3.org/2001/XMLSchema" xmlns:xs="http://www.w3.org/2001/XMLSchema" xmlns:p="http://schemas.microsoft.com/office/2006/metadata/properties" xmlns:ns2="9875bd71-cde8-496c-a136-433f55d5e6d0" xmlns:ns3="e96afe77-3acb-4328-97fc-408e1bde3ecd" targetNamespace="http://schemas.microsoft.com/office/2006/metadata/properties" ma:root="true" ma:fieldsID="4831203c63c08b9f52ea6d3ee0d7a96e" ns2:_="" ns3:_="">
    <xsd:import namespace="9875bd71-cde8-496c-a136-433f55d5e6d0"/>
    <xsd:import namespace="e96afe77-3acb-4328-97fc-408e1bde3e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75bd71-cde8-496c-a136-433f55d5e6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afe77-3acb-4328-97fc-408e1bde3ec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33DAF31-D8A6-49A0-9A5D-8B2EA5B1C511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e96afe77-3acb-4328-97fc-408e1bde3ecd"/>
    <ds:schemaRef ds:uri="http://schemas.microsoft.com/office/2006/metadata/properties"/>
    <ds:schemaRef ds:uri="http://purl.org/dc/terms/"/>
    <ds:schemaRef ds:uri="http://www.w3.org/XML/1998/namespace"/>
    <ds:schemaRef ds:uri="http://schemas.openxmlformats.org/package/2006/metadata/core-properties"/>
    <ds:schemaRef ds:uri="9875bd71-cde8-496c-a136-433f55d5e6d0"/>
  </ds:schemaRefs>
</ds:datastoreItem>
</file>

<file path=customXml/itemProps3.xml><?xml version="1.0" encoding="utf-8"?>
<ds:datastoreItem xmlns:ds="http://schemas.openxmlformats.org/officeDocument/2006/customXml" ds:itemID="{4D4651DD-DCCC-4759-B2F6-7F520BDCC2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75bd71-cde8-496c-a136-433f55d5e6d0"/>
    <ds:schemaRef ds:uri="e96afe77-3acb-4328-97fc-408e1bde3e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2844</TotalTime>
  <Words>1025</Words>
  <Application>Microsoft Office PowerPoint</Application>
  <PresentationFormat>Широкоэкранный</PresentationFormat>
  <Paragraphs>178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HSE Sans</vt:lpstr>
      <vt:lpstr>Office Theme</vt:lpstr>
      <vt:lpstr>Разработка системы для сопоставления резюме и текстовых описаний вакансий для специалистов в области анализа данных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a85989</cp:lastModifiedBy>
  <cp:revision>18</cp:revision>
  <cp:lastPrinted>2021-11-11T13:08:42Z</cp:lastPrinted>
  <dcterms:created xsi:type="dcterms:W3CDTF">2021-11-11T08:52:47Z</dcterms:created>
  <dcterms:modified xsi:type="dcterms:W3CDTF">2026-05-04T19:33:19Z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</Properties>
</file>